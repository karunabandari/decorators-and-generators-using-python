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64" r:id="rId3"/>
    <p:sldId id="257" r:id="rId4"/>
    <p:sldId id="269" r:id="rId5"/>
    <p:sldId id="271" r:id="rId6"/>
    <p:sldId id="258" r:id="rId7"/>
    <p:sldId id="259" r:id="rId8"/>
    <p:sldId id="270" r:id="rId9"/>
    <p:sldId id="260" r:id="rId10"/>
    <p:sldId id="261" r:id="rId11"/>
    <p:sldId id="262" r:id="rId12"/>
    <p:sldId id="272" r:id="rId13"/>
    <p:sldId id="273"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63" r:id="rId29"/>
    <p:sldId id="265" r:id="rId30"/>
    <p:sldId id="266" r:id="rId31"/>
    <p:sldId id="267" r:id="rId32"/>
    <p:sldId id="268" r:id="rId33"/>
    <p:sldId id="274" r:id="rId34"/>
    <p:sldId id="275" r:id="rId35"/>
    <p:sldId id="276" r:id="rId36"/>
    <p:sldId id="277" r:id="rId37"/>
    <p:sldId id="278"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4660"/>
  </p:normalViewPr>
  <p:slideViewPr>
    <p:cSldViewPr snapToGrid="0">
      <p:cViewPr varScale="1">
        <p:scale>
          <a:sx n="82" d="100"/>
          <a:sy n="82" d="100"/>
        </p:scale>
        <p:origin x="710"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E4D75-27A9-3617-F4C1-0C578424BC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9B7E1219-442E-DD69-DD3D-800AF9866AC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919482-8C10-D7B3-F0AC-709D4D2F6E7B}"/>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5" name="Footer Placeholder 4">
            <a:extLst>
              <a:ext uri="{FF2B5EF4-FFF2-40B4-BE49-F238E27FC236}">
                <a16:creationId xmlns:a16="http://schemas.microsoft.com/office/drawing/2014/main" id="{0B9B77E0-9720-8625-0686-98C8AF9827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D87326-83CC-BB60-E184-8D35048213E2}"/>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1003467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FBEAF-D740-FC3E-5287-7233C6AAA4E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AFE46B-6511-C728-5E1B-C33877A3213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FC4EEA-ADAD-E4DB-7BD3-16D6005A66B3}"/>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5" name="Footer Placeholder 4">
            <a:extLst>
              <a:ext uri="{FF2B5EF4-FFF2-40B4-BE49-F238E27FC236}">
                <a16:creationId xmlns:a16="http://schemas.microsoft.com/office/drawing/2014/main" id="{9534F115-119D-31C0-8586-9DA98CDF25B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6AA6E6-F6EA-ED91-8F90-DCFC2133CA2F}"/>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32869385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0BD03-C330-55E7-AB7C-A395952E87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D7DF16-B2C2-E12B-2EB3-DECB3B9031C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CD2043-CEFF-A7FC-DFBA-330FEEB606D9}"/>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5" name="Footer Placeholder 4">
            <a:extLst>
              <a:ext uri="{FF2B5EF4-FFF2-40B4-BE49-F238E27FC236}">
                <a16:creationId xmlns:a16="http://schemas.microsoft.com/office/drawing/2014/main" id="{5CD5141B-81BB-FE77-8E48-D40854FD8D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6080D5-ABE6-7416-FF3B-195CF46A213E}"/>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25840036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2DADA-47BF-365C-B63B-4261E082CB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43C94F3-A0C1-5388-DEAC-1D1072C220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92D8AB7-1694-8DE4-2438-164F351157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3AD1A1E-5834-31C4-C6DF-9F4934266E3D}"/>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6" name="Footer Placeholder 5">
            <a:extLst>
              <a:ext uri="{FF2B5EF4-FFF2-40B4-BE49-F238E27FC236}">
                <a16:creationId xmlns:a16="http://schemas.microsoft.com/office/drawing/2014/main" id="{64CA8FB1-5889-8771-71AD-71929631D7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C229D7-C6DF-C93C-6073-C65597A8D3BB}"/>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25361538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CBA42E-CD5F-EC46-F921-0BF95F9BC4A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694B83-D6D8-76E7-3877-299C25F3C9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2082B0-149C-6223-9C20-0EB5DAC803C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F742D3F-027B-DC37-E403-8697FBCE542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8B8760D-31DD-6CC3-8972-FDCF7BDF60F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7C39A0C-1D93-4F97-5AAD-F6E0FD83768F}"/>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8" name="Footer Placeholder 7">
            <a:extLst>
              <a:ext uri="{FF2B5EF4-FFF2-40B4-BE49-F238E27FC236}">
                <a16:creationId xmlns:a16="http://schemas.microsoft.com/office/drawing/2014/main" id="{02C1933E-6F4C-4473-7F30-781EF069AEB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D906412-6DAB-D79C-3D11-FBC951E2929F}"/>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2172632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29927-1153-3135-8827-37384A2BF20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E6FA05D-1C20-6CCA-951B-BB071AF493F5}"/>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4" name="Footer Placeholder 3">
            <a:extLst>
              <a:ext uri="{FF2B5EF4-FFF2-40B4-BE49-F238E27FC236}">
                <a16:creationId xmlns:a16="http://schemas.microsoft.com/office/drawing/2014/main" id="{F8785FD6-C6F7-DF92-B15A-4FC69FE5103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AEBE7D9-6828-7114-1DEE-E71E02062172}"/>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1281381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947116-8560-C470-7023-41A754E40DC4}"/>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3" name="Footer Placeholder 2">
            <a:extLst>
              <a:ext uri="{FF2B5EF4-FFF2-40B4-BE49-F238E27FC236}">
                <a16:creationId xmlns:a16="http://schemas.microsoft.com/office/drawing/2014/main" id="{E6311702-3DA6-CD12-9AC6-E178426CD5E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FE34B82-E39D-4C49-14C4-AE2DDB199EA8}"/>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2453766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4F358E-D141-DE2D-A37A-6D2D23F2EE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BB279D-DB63-FA67-EB9A-DABB04F88E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A4448FD-CF9F-FCDF-A805-6352B4AE62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3DCE07-1B10-883B-44C7-377A70C5E085}"/>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6" name="Footer Placeholder 5">
            <a:extLst>
              <a:ext uri="{FF2B5EF4-FFF2-40B4-BE49-F238E27FC236}">
                <a16:creationId xmlns:a16="http://schemas.microsoft.com/office/drawing/2014/main" id="{515E00D6-3601-2D4B-5F4A-9005472A73F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56DC5B-47FD-0172-5913-16EC60338118}"/>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2812454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11A6E-FE77-697E-0514-90F53292FC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751808A-FB2D-50DC-6608-907500753D2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2521680-6A03-4038-118D-712E5F380F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1B6A48-2642-32F5-AB5D-DA191D3277D7}"/>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6" name="Footer Placeholder 5">
            <a:extLst>
              <a:ext uri="{FF2B5EF4-FFF2-40B4-BE49-F238E27FC236}">
                <a16:creationId xmlns:a16="http://schemas.microsoft.com/office/drawing/2014/main" id="{D9B19C8E-8009-5A89-820B-B32FDDE9090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01480B1-C660-D72D-DF20-DDE96C8BA14B}"/>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3265787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D2050-666C-5668-FA03-255C467322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46A3D2-E384-AF4A-891C-FC05299F5FB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70343F-91E6-40B6-9FF2-34316F7BCD89}"/>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5" name="Footer Placeholder 4">
            <a:extLst>
              <a:ext uri="{FF2B5EF4-FFF2-40B4-BE49-F238E27FC236}">
                <a16:creationId xmlns:a16="http://schemas.microsoft.com/office/drawing/2014/main" id="{E5E3C03D-C065-9B22-5E1D-16C364E753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F6DB925-5B77-E3F9-8362-C219BA5B3FF1}"/>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705816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BB3DD7-B254-FF9C-D462-EF0313ADA66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276DB05-70C4-200B-BBC9-9B0CE5C5BB5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63F4FE-0C9C-D721-CE91-FB45C8984314}"/>
              </a:ext>
            </a:extLst>
          </p:cNvPr>
          <p:cNvSpPr>
            <a:spLocks noGrp="1"/>
          </p:cNvSpPr>
          <p:nvPr>
            <p:ph type="dt" sz="half" idx="10"/>
          </p:nvPr>
        </p:nvSpPr>
        <p:spPr/>
        <p:txBody>
          <a:bodyPr/>
          <a:lstStyle/>
          <a:p>
            <a:fld id="{B2CBC185-1459-42F5-9D52-A72E586D3B35}" type="datetimeFigureOut">
              <a:rPr lang="en-IN" smtClean="0"/>
              <a:t>14-03-2025</a:t>
            </a:fld>
            <a:endParaRPr lang="en-IN"/>
          </a:p>
        </p:txBody>
      </p:sp>
      <p:sp>
        <p:nvSpPr>
          <p:cNvPr id="5" name="Footer Placeholder 4">
            <a:extLst>
              <a:ext uri="{FF2B5EF4-FFF2-40B4-BE49-F238E27FC236}">
                <a16:creationId xmlns:a16="http://schemas.microsoft.com/office/drawing/2014/main" id="{78C463C7-F246-DF24-DE87-5630EEA59D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2E1D26-0B56-E770-6897-0BB75036F471}"/>
              </a:ext>
            </a:extLst>
          </p:cNvPr>
          <p:cNvSpPr>
            <a:spLocks noGrp="1"/>
          </p:cNvSpPr>
          <p:nvPr>
            <p:ph type="sldNum" sz="quarter" idx="12"/>
          </p:nvPr>
        </p:nvSpPr>
        <p:spPr/>
        <p:txBody>
          <a:bodyPr/>
          <a:lstStyle/>
          <a:p>
            <a:fld id="{B9C56B2E-C175-486A-B933-2E8A13859E04}" type="slidenum">
              <a:rPr lang="en-IN" smtClean="0"/>
              <a:t>‹#›</a:t>
            </a:fld>
            <a:endParaRPr lang="en-IN"/>
          </a:p>
        </p:txBody>
      </p:sp>
    </p:spTree>
    <p:extLst>
      <p:ext uri="{BB962C8B-B14F-4D97-AF65-F5344CB8AC3E}">
        <p14:creationId xmlns:p14="http://schemas.microsoft.com/office/powerpoint/2010/main" val="2321962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5B22A6-AAD0-375E-7557-4C0DAD2EFD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C3B6D48-0D97-F5B7-ED28-AE7CFBD5F1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D8099C-B82B-B32C-C9DE-8271DDA1CE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CBC185-1459-42F5-9D52-A72E586D3B35}" type="datetimeFigureOut">
              <a:rPr lang="en-IN" smtClean="0"/>
              <a:t>14-03-2025</a:t>
            </a:fld>
            <a:endParaRPr lang="en-IN"/>
          </a:p>
        </p:txBody>
      </p:sp>
      <p:sp>
        <p:nvSpPr>
          <p:cNvPr id="5" name="Footer Placeholder 4">
            <a:extLst>
              <a:ext uri="{FF2B5EF4-FFF2-40B4-BE49-F238E27FC236}">
                <a16:creationId xmlns:a16="http://schemas.microsoft.com/office/drawing/2014/main" id="{2BC1C144-745B-FE26-1F60-98AE092995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FE6E431-9044-B6A6-36A7-DBA922029E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C56B2E-C175-486A-B933-2E8A13859E04}" type="slidenum">
              <a:rPr lang="en-IN" smtClean="0"/>
              <a:t>‹#›</a:t>
            </a:fld>
            <a:endParaRPr lang="en-IN"/>
          </a:p>
        </p:txBody>
      </p:sp>
    </p:spTree>
    <p:extLst>
      <p:ext uri="{BB962C8B-B14F-4D97-AF65-F5344CB8AC3E}">
        <p14:creationId xmlns:p14="http://schemas.microsoft.com/office/powerpoint/2010/main" val="385661757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750EE-7E03-6EA7-623C-88861F6D8E8B}"/>
              </a:ext>
            </a:extLst>
          </p:cNvPr>
          <p:cNvSpPr>
            <a:spLocks noGrp="1"/>
          </p:cNvSpPr>
          <p:nvPr>
            <p:ph type="ctrTitle"/>
          </p:nvPr>
        </p:nvSpPr>
        <p:spPr/>
        <p:txBody>
          <a:bodyPr>
            <a:normAutofit/>
          </a:bodyPr>
          <a:lstStyle/>
          <a:p>
            <a:r>
              <a:rPr lang="en-US" sz="3600" b="1" dirty="0">
                <a:latin typeface="Times New Roman" panose="02020603050405020304" pitchFamily="18" charset="0"/>
                <a:cs typeface="Times New Roman" panose="02020603050405020304" pitchFamily="18" charset="0"/>
              </a:rPr>
              <a:t>DECORATORS AND GENERATORS IN PYTHON</a:t>
            </a:r>
            <a:endParaRPr lang="en-IN" sz="36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61CC7DE-0DCB-138D-1F1C-B0B244E9F17E}"/>
              </a:ext>
            </a:extLst>
          </p:cNvPr>
          <p:cNvSpPr>
            <a:spLocks noGrp="1"/>
          </p:cNvSpPr>
          <p:nvPr>
            <p:ph type="subTitle" idx="1"/>
          </p:nvPr>
        </p:nvSpPr>
        <p:spPr/>
        <p:txBody>
          <a:bodyPr/>
          <a:lstStyle/>
          <a:p>
            <a:pPr algn="r"/>
            <a:r>
              <a:rPr lang="en-IN" dirty="0"/>
              <a:t>Presented By Bandari </a:t>
            </a:r>
            <a:r>
              <a:rPr lang="en-IN" dirty="0" err="1"/>
              <a:t>Karunasri</a:t>
            </a:r>
            <a:endParaRPr lang="en-IN" dirty="0"/>
          </a:p>
        </p:txBody>
      </p:sp>
    </p:spTree>
    <p:extLst>
      <p:ext uri="{BB962C8B-B14F-4D97-AF65-F5344CB8AC3E}">
        <p14:creationId xmlns:p14="http://schemas.microsoft.com/office/powerpoint/2010/main" val="2330364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4B2046D3-BC54-B804-35C0-CD529682D538}"/>
              </a:ext>
            </a:extLst>
          </p:cNvPr>
          <p:cNvSpPr>
            <a:spLocks noGrp="1"/>
          </p:cNvSpPr>
          <p:nvPr>
            <p:ph type="ctrTitle"/>
          </p:nvPr>
        </p:nvSpPr>
        <p:spPr/>
        <p:txBody>
          <a:bodyPr>
            <a:normAutofit/>
          </a:bodyPr>
          <a:lstStyle/>
          <a:p>
            <a:r>
              <a:rPr lang="en-IN" sz="7200" b="1" dirty="0">
                <a:latin typeface="Times New Roman" panose="02020603050405020304" pitchFamily="18" charset="0"/>
                <a:cs typeface="Times New Roman" panose="02020603050405020304" pitchFamily="18" charset="0"/>
              </a:rPr>
              <a:t>DECORATORS</a:t>
            </a:r>
          </a:p>
        </p:txBody>
      </p:sp>
    </p:spTree>
    <p:extLst>
      <p:ext uri="{BB962C8B-B14F-4D97-AF65-F5344CB8AC3E}">
        <p14:creationId xmlns:p14="http://schemas.microsoft.com/office/powerpoint/2010/main" val="11087943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3223C-75CC-8B41-B69C-B42AD8254472}"/>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What is a Decorators?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A2B8819-0571-7D01-2126-9175E9AD3DC7}"/>
              </a:ext>
            </a:extLst>
          </p:cNvPr>
          <p:cNvSpPr>
            <a:spLocks noGrp="1"/>
          </p:cNvSpPr>
          <p:nvPr>
            <p:ph idx="1"/>
          </p:nvPr>
        </p:nvSpPr>
        <p:spPr/>
        <p:txBody>
          <a:bodyPr>
            <a:normAutofit/>
          </a:bodyPr>
          <a:lstStyle/>
          <a:p>
            <a:pPr>
              <a:lnSpc>
                <a:spcPct val="100000"/>
              </a:lnSpc>
            </a:pPr>
            <a:r>
              <a:rPr lang="en-US" sz="2400" dirty="0">
                <a:latin typeface="Times New Roman" panose="02020603050405020304" pitchFamily="18" charset="0"/>
                <a:cs typeface="Times New Roman" panose="02020603050405020304" pitchFamily="18" charset="0"/>
              </a:rPr>
              <a:t>A Decorator is a special type of function in python that can be used to modify or enhance the behavior of other functions or methods.</a:t>
            </a:r>
          </a:p>
          <a:p>
            <a:pPr>
              <a:lnSpc>
                <a:spcPct val="100000"/>
              </a:lnSpc>
            </a:pPr>
            <a:r>
              <a:rPr lang="en-US" sz="2400" dirty="0">
                <a:latin typeface="Times New Roman" panose="02020603050405020304" pitchFamily="18" charset="0"/>
                <a:cs typeface="Times New Roman" panose="02020603050405020304" pitchFamily="18" charset="0"/>
              </a:rPr>
              <a:t>For adding the new functionality to the existing function you need to pass that function as an argument is decorator function and call it inside inner function of decorator.</a:t>
            </a:r>
          </a:p>
          <a:p>
            <a:pPr>
              <a:lnSpc>
                <a:spcPct val="100000"/>
              </a:lnSpc>
            </a:pPr>
            <a:r>
              <a:rPr lang="en-US" sz="2400" dirty="0">
                <a:latin typeface="Times New Roman" panose="02020603050405020304" pitchFamily="18" charset="0"/>
                <a:cs typeface="Times New Roman" panose="02020603050405020304" pitchFamily="18" charset="0"/>
              </a:rPr>
              <a:t>A function can be decorated by using the @ symbol along with the name of the decorator function and placing it above that function definition which you want to decorate. </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27744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E0283-439D-86F4-8A36-B970C071DCE5}"/>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Example of a Simple Decorator</a:t>
            </a:r>
            <a:endParaRPr lang="en-IN" sz="36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D06A54EC-3C04-AE0B-EDEE-3BCEDA16990A}"/>
              </a:ext>
            </a:extLst>
          </p:cNvPr>
          <p:cNvPicPr>
            <a:picLocks noGrp="1" noChangeAspect="1"/>
          </p:cNvPicPr>
          <p:nvPr>
            <p:ph idx="1"/>
          </p:nvPr>
        </p:nvPicPr>
        <p:blipFill>
          <a:blip r:embed="rId2"/>
          <a:stretch>
            <a:fillRect/>
          </a:stretch>
        </p:blipFill>
        <p:spPr>
          <a:xfrm>
            <a:off x="632926" y="1690688"/>
            <a:ext cx="10515600" cy="2862651"/>
          </a:xfrm>
        </p:spPr>
      </p:pic>
    </p:spTree>
    <p:extLst>
      <p:ext uri="{BB962C8B-B14F-4D97-AF65-F5344CB8AC3E}">
        <p14:creationId xmlns:p14="http://schemas.microsoft.com/office/powerpoint/2010/main" val="3382224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378F583-E8DA-91BF-7E91-4F25D79C4BA5}"/>
              </a:ext>
            </a:extLst>
          </p:cNvPr>
          <p:cNvSpPr>
            <a:spLocks noGrp="1"/>
          </p:cNvSpPr>
          <p:nvPr>
            <p:ph type="title"/>
          </p:nvPr>
        </p:nvSpPr>
        <p:spPr>
          <a:xfrm>
            <a:off x="763555" y="729018"/>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Example</a:t>
            </a:r>
            <a:endParaRPr lang="en-IN" sz="36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AC51D7A2-6380-A998-916F-8FD4A0B5E8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88910" y="2054581"/>
            <a:ext cx="10515600" cy="2221915"/>
          </a:xfrm>
        </p:spPr>
      </p:pic>
    </p:spTree>
    <p:extLst>
      <p:ext uri="{BB962C8B-B14F-4D97-AF65-F5344CB8AC3E}">
        <p14:creationId xmlns:p14="http://schemas.microsoft.com/office/powerpoint/2010/main" val="2396427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C789A8-4C7E-9BE7-B2BD-2BAAF6ECF4A9}"/>
              </a:ext>
            </a:extLst>
          </p:cNvPr>
          <p:cNvSpPr>
            <a:spLocks noGrp="1"/>
          </p:cNvSpPr>
          <p:nvPr>
            <p:ph type="title"/>
          </p:nvPr>
        </p:nvSpPr>
        <p:spPr>
          <a:xfrm>
            <a:off x="838200" y="766341"/>
            <a:ext cx="10515600" cy="1325563"/>
          </a:xfrm>
        </p:spPr>
        <p:txBody>
          <a:bodyPr>
            <a:normAutofit/>
          </a:bodyPr>
          <a:lstStyle/>
          <a:p>
            <a:r>
              <a:rPr lang="en-US" sz="3600" b="1" dirty="0">
                <a:latin typeface="Times New Roman" panose="02020603050405020304" pitchFamily="18" charset="0"/>
                <a:cs typeface="Times New Roman" panose="02020603050405020304" pitchFamily="18" charset="0"/>
              </a:rPr>
              <a:t>Why Use Decorators?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C9C24A-F3B7-3AFB-1C6F-3A335BEB913D}"/>
              </a:ext>
            </a:extLst>
          </p:cNvPr>
          <p:cNvSpPr>
            <a:spLocks noGrp="1"/>
          </p:cNvSpPr>
          <p:nvPr>
            <p:ph idx="1"/>
          </p:nvPr>
        </p:nvSpPr>
        <p:spPr>
          <a:xfrm>
            <a:off x="1062135" y="2506662"/>
            <a:ext cx="8856306" cy="4351338"/>
          </a:xfrm>
        </p:spPr>
        <p:txBody>
          <a:bodyPr>
            <a:normAutofit/>
          </a:bodyPr>
          <a:lstStyle/>
          <a:p>
            <a:r>
              <a:rPr lang="en-US" sz="2400" dirty="0">
                <a:latin typeface="Times New Roman" panose="02020603050405020304" pitchFamily="18" charset="0"/>
                <a:cs typeface="Times New Roman" panose="02020603050405020304" pitchFamily="18" charset="0"/>
              </a:rPr>
              <a:t>Decorators are useful because they allow you to add functionality to existing functions in a clean and reusable way , without changing the original function code.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9604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75EC0-52BB-9161-36A3-ECE9752370ED}"/>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How Do Decorators Work? </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6DE175C-9D18-ED4D-2380-74E64134CA8E}"/>
              </a:ext>
            </a:extLst>
          </p:cNvPr>
          <p:cNvSpPr>
            <a:spLocks noGrp="1"/>
          </p:cNvSpPr>
          <p:nvPr>
            <p:ph idx="1"/>
          </p:nvPr>
        </p:nvSpPr>
        <p:spPr>
          <a:xfrm>
            <a:off x="838200" y="1959429"/>
            <a:ext cx="10515600" cy="4217534"/>
          </a:xfrm>
        </p:spPr>
        <p:txBody>
          <a:bodyPr>
            <a:normAutofit/>
          </a:bodyPr>
          <a:lstStyle/>
          <a:p>
            <a:r>
              <a:rPr lang="en-IN" sz="2400" b="1" u="sng" dirty="0">
                <a:latin typeface="Times New Roman" panose="02020603050405020304" pitchFamily="18" charset="0"/>
                <a:cs typeface="Times New Roman" panose="02020603050405020304" pitchFamily="18" charset="0"/>
              </a:rPr>
              <a:t>Define a Decorator function: </a:t>
            </a:r>
            <a:r>
              <a:rPr lang="en-IN" sz="2400" dirty="0">
                <a:latin typeface="Times New Roman" panose="02020603050405020304" pitchFamily="18" charset="0"/>
                <a:cs typeface="Times New Roman" panose="02020603050405020304" pitchFamily="18" charset="0"/>
              </a:rPr>
              <a:t>This function takes another function as an argument and returns a new function that adds some behaviour to the original function.</a:t>
            </a:r>
          </a:p>
          <a:p>
            <a:r>
              <a:rPr lang="en-IN" sz="2400" b="1" u="sng" dirty="0">
                <a:latin typeface="Times New Roman" panose="02020603050405020304" pitchFamily="18" charset="0"/>
                <a:cs typeface="Times New Roman" panose="02020603050405020304" pitchFamily="18" charset="0"/>
              </a:rPr>
              <a:t>Example:</a:t>
            </a:r>
          </a:p>
          <a:p>
            <a:endParaRPr lang="en-IN" sz="2400" b="1" u="sng" dirty="0">
              <a:latin typeface="Times New Roman" panose="02020603050405020304" pitchFamily="18" charset="0"/>
              <a:cs typeface="Times New Roman" panose="02020603050405020304" pitchFamily="18" charset="0"/>
            </a:endParaRPr>
          </a:p>
          <a:p>
            <a:pPr marL="0" indent="0">
              <a:buNone/>
            </a:pPr>
            <a:endParaRPr lang="en-IN" sz="2400" b="1" u="sng"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A07DC67-ABC3-3544-B174-A2CA32C64A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2935" y="3650146"/>
            <a:ext cx="10966130" cy="1696911"/>
          </a:xfrm>
          <a:prstGeom prst="rect">
            <a:avLst/>
          </a:prstGeom>
        </p:spPr>
      </p:pic>
    </p:spTree>
    <p:extLst>
      <p:ext uri="{BB962C8B-B14F-4D97-AF65-F5344CB8AC3E}">
        <p14:creationId xmlns:p14="http://schemas.microsoft.com/office/powerpoint/2010/main" val="3451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5D9B2B-0E17-FFEF-ABEA-9A894687B546}"/>
              </a:ext>
            </a:extLst>
          </p:cNvPr>
          <p:cNvSpPr>
            <a:spLocks noGrp="1"/>
          </p:cNvSpPr>
          <p:nvPr>
            <p:ph idx="1"/>
          </p:nvPr>
        </p:nvSpPr>
        <p:spPr>
          <a:xfrm>
            <a:off x="838200" y="1119673"/>
            <a:ext cx="10515600" cy="5057290"/>
          </a:xfrm>
        </p:spPr>
        <p:txBody>
          <a:bodyPr/>
          <a:lstStyle/>
          <a:p>
            <a:r>
              <a:rPr lang="en-IN" sz="2400" b="1" u="sng" dirty="0">
                <a:latin typeface="Times New Roman" panose="02020603050405020304" pitchFamily="18" charset="0"/>
                <a:cs typeface="Times New Roman" panose="02020603050405020304" pitchFamily="18" charset="0"/>
              </a:rPr>
              <a:t>Apply the Decorator: </a:t>
            </a:r>
            <a:r>
              <a:rPr lang="en-IN" sz="2400" dirty="0">
                <a:latin typeface="Times New Roman" panose="02020603050405020304" pitchFamily="18" charset="0"/>
                <a:cs typeface="Times New Roman" panose="02020603050405020304" pitchFamily="18" charset="0"/>
              </a:rPr>
              <a:t>Use the @decorator_name syntax above the function you want to enhance. The @ syntax is shorthand for passing the function into the decorator.</a:t>
            </a:r>
          </a:p>
          <a:p>
            <a:r>
              <a:rPr lang="en-IN" sz="2400" b="1" u="sng" dirty="0">
                <a:latin typeface="Times New Roman" panose="02020603050405020304" pitchFamily="18" charset="0"/>
                <a:cs typeface="Times New Roman" panose="02020603050405020304" pitchFamily="18" charset="0"/>
              </a:rPr>
              <a:t>Example:</a:t>
            </a:r>
          </a:p>
          <a:p>
            <a:pPr marL="0" indent="0">
              <a:buNone/>
            </a:pPr>
            <a:endParaRPr lang="en-IN" dirty="0"/>
          </a:p>
        </p:txBody>
      </p:sp>
      <p:pic>
        <p:nvPicPr>
          <p:cNvPr id="5" name="Picture 4">
            <a:extLst>
              <a:ext uri="{FF2B5EF4-FFF2-40B4-BE49-F238E27FC236}">
                <a16:creationId xmlns:a16="http://schemas.microsoft.com/office/drawing/2014/main" id="{D3ECADEE-2B9A-23DF-BAB1-C4767EF7B4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780" y="2836392"/>
            <a:ext cx="10664889" cy="1483681"/>
          </a:xfrm>
          <a:prstGeom prst="rect">
            <a:avLst/>
          </a:prstGeom>
        </p:spPr>
      </p:pic>
    </p:spTree>
    <p:extLst>
      <p:ext uri="{BB962C8B-B14F-4D97-AF65-F5344CB8AC3E}">
        <p14:creationId xmlns:p14="http://schemas.microsoft.com/office/powerpoint/2010/main" val="2331365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C194-41B1-8F9A-C076-437076720649}"/>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Types of Decorators</a:t>
            </a:r>
          </a:p>
        </p:txBody>
      </p:sp>
      <p:graphicFrame>
        <p:nvGraphicFramePr>
          <p:cNvPr id="4" name="Content Placeholder 3">
            <a:extLst>
              <a:ext uri="{FF2B5EF4-FFF2-40B4-BE49-F238E27FC236}">
                <a16:creationId xmlns:a16="http://schemas.microsoft.com/office/drawing/2014/main" id="{6FAB4C1D-0FB0-D0DD-E26C-BED13880E73B}"/>
              </a:ext>
            </a:extLst>
          </p:cNvPr>
          <p:cNvGraphicFramePr>
            <a:graphicFrameLocks noGrp="1"/>
          </p:cNvGraphicFramePr>
          <p:nvPr>
            <p:ph idx="1"/>
            <p:extLst>
              <p:ext uri="{D42A27DB-BD31-4B8C-83A1-F6EECF244321}">
                <p14:modId xmlns:p14="http://schemas.microsoft.com/office/powerpoint/2010/main" val="3175582592"/>
              </p:ext>
            </p:extLst>
          </p:nvPr>
        </p:nvGraphicFramePr>
        <p:xfrm>
          <a:off x="858416" y="1825624"/>
          <a:ext cx="7324532" cy="2995176"/>
        </p:xfrm>
        <a:graphic>
          <a:graphicData uri="http://schemas.openxmlformats.org/drawingml/2006/table">
            <a:tbl>
              <a:tblPr firstRow="1" bandRow="1">
                <a:tableStyleId>{5940675A-B579-460E-94D1-54222C63F5DA}</a:tableStyleId>
              </a:tblPr>
              <a:tblGrid>
                <a:gridCol w="2220686">
                  <a:extLst>
                    <a:ext uri="{9D8B030D-6E8A-4147-A177-3AD203B41FA5}">
                      <a16:colId xmlns:a16="http://schemas.microsoft.com/office/drawing/2014/main" val="3949927051"/>
                    </a:ext>
                  </a:extLst>
                </a:gridCol>
                <a:gridCol w="2192694">
                  <a:extLst>
                    <a:ext uri="{9D8B030D-6E8A-4147-A177-3AD203B41FA5}">
                      <a16:colId xmlns:a16="http://schemas.microsoft.com/office/drawing/2014/main" val="1529104550"/>
                    </a:ext>
                  </a:extLst>
                </a:gridCol>
                <a:gridCol w="2911152">
                  <a:extLst>
                    <a:ext uri="{9D8B030D-6E8A-4147-A177-3AD203B41FA5}">
                      <a16:colId xmlns:a16="http://schemas.microsoft.com/office/drawing/2014/main" val="2500109843"/>
                    </a:ext>
                  </a:extLst>
                </a:gridCol>
              </a:tblGrid>
              <a:tr h="693592">
                <a:tc>
                  <a:txBody>
                    <a:bodyPr/>
                    <a:lstStyle/>
                    <a:p>
                      <a:r>
                        <a:rPr lang="en-IN" b="1" dirty="0">
                          <a:latin typeface="Times New Roman" panose="02020603050405020304" pitchFamily="18" charset="0"/>
                          <a:cs typeface="Times New Roman" panose="02020603050405020304" pitchFamily="18" charset="0"/>
                        </a:rPr>
                        <a:t>     Decorator Type</a:t>
                      </a:r>
                    </a:p>
                  </a:txBody>
                  <a:tcPr/>
                </a:tc>
                <a:tc>
                  <a: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Purpose</a:t>
                      </a:r>
                    </a:p>
                  </a:txBody>
                  <a:tcPr/>
                </a:tc>
                <a:tc>
                  <a:txBody>
                    <a:bodyPr/>
                    <a:lstStyle/>
                    <a:p>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Example Use Case</a:t>
                      </a:r>
                    </a:p>
                  </a:txBody>
                  <a:tcPr/>
                </a:tc>
                <a:extLst>
                  <a:ext uri="{0D108BD9-81ED-4DB2-BD59-A6C34878D82A}">
                    <a16:rowId xmlns:a16="http://schemas.microsoft.com/office/drawing/2014/main" val="2582925118"/>
                  </a:ext>
                </a:extLst>
              </a:tr>
              <a:tr h="693592">
                <a:tc>
                  <a:txBody>
                    <a:bodyPr/>
                    <a:lstStyle/>
                    <a:p>
                      <a:r>
                        <a:rPr lang="en-IN" dirty="0">
                          <a:latin typeface="Times New Roman" panose="02020603050405020304" pitchFamily="18" charset="0"/>
                          <a:cs typeface="Times New Roman" panose="02020603050405020304" pitchFamily="18" charset="0"/>
                        </a:rPr>
                        <a:t> Function Decorators</a:t>
                      </a:r>
                    </a:p>
                  </a:txBody>
                  <a:tcPr/>
                </a:tc>
                <a:tc>
                  <a:txBody>
                    <a:bodyPr/>
                    <a:lstStyle/>
                    <a:p>
                      <a:r>
                        <a:rPr lang="en-IN" dirty="0">
                          <a:latin typeface="Times New Roman" panose="02020603050405020304" pitchFamily="18" charset="0"/>
                          <a:cs typeface="Times New Roman" panose="02020603050405020304" pitchFamily="18" charset="0"/>
                        </a:rPr>
                        <a:t>Modify behaviour of    function</a:t>
                      </a:r>
                    </a:p>
                  </a:txBody>
                  <a:tcPr/>
                </a:tc>
                <a:tc>
                  <a:txBody>
                    <a:bodyPr/>
                    <a:lstStyle/>
                    <a:p>
                      <a:r>
                        <a:rPr lang="en-IN" dirty="0">
                          <a:latin typeface="Times New Roman" panose="02020603050405020304" pitchFamily="18" charset="0"/>
                          <a:cs typeface="Times New Roman" panose="02020603050405020304" pitchFamily="18" charset="0"/>
                        </a:rPr>
                        <a:t>Logging, Authentication, performance tracking</a:t>
                      </a:r>
                    </a:p>
                  </a:txBody>
                  <a:tcPr/>
                </a:tc>
                <a:extLst>
                  <a:ext uri="{0D108BD9-81ED-4DB2-BD59-A6C34878D82A}">
                    <a16:rowId xmlns:a16="http://schemas.microsoft.com/office/drawing/2014/main" val="3360209982"/>
                  </a:ext>
                </a:extLst>
              </a:tr>
              <a:tr h="693592">
                <a:tc>
                  <a:txBody>
                    <a:bodyPr/>
                    <a:lstStyle/>
                    <a:p>
                      <a:r>
                        <a:rPr lang="en-IN" dirty="0">
                          <a:latin typeface="Times New Roman" panose="02020603050405020304" pitchFamily="18" charset="0"/>
                          <a:cs typeface="Times New Roman" panose="02020603050405020304" pitchFamily="18" charset="0"/>
                        </a:rPr>
                        <a:t> Class Decorators</a:t>
                      </a:r>
                    </a:p>
                  </a:txBody>
                  <a:tcPr/>
                </a:tc>
                <a:tc>
                  <a:txBody>
                    <a:bodyPr/>
                    <a:lstStyle/>
                    <a:p>
                      <a:r>
                        <a:rPr lang="en-IN" dirty="0">
                          <a:latin typeface="Times New Roman" panose="02020603050405020304" pitchFamily="18" charset="0"/>
                          <a:cs typeface="Times New Roman" panose="02020603050405020304" pitchFamily="18" charset="0"/>
                        </a:rPr>
                        <a:t>Modify behaviour of classes </a:t>
                      </a:r>
                    </a:p>
                  </a:txBody>
                  <a:tcPr/>
                </a:tc>
                <a:tc>
                  <a:txBody>
                    <a:bodyPr/>
                    <a:lstStyle/>
                    <a:p>
                      <a:r>
                        <a:rPr lang="en-IN" dirty="0">
                          <a:latin typeface="Times New Roman" panose="02020603050405020304" pitchFamily="18" charset="0"/>
                          <a:cs typeface="Times New Roman" panose="02020603050405020304" pitchFamily="18" charset="0"/>
                        </a:rPr>
                        <a:t>Singleton pattern, Object creation control.</a:t>
                      </a:r>
                    </a:p>
                  </a:txBody>
                  <a:tcPr/>
                </a:tc>
                <a:extLst>
                  <a:ext uri="{0D108BD9-81ED-4DB2-BD59-A6C34878D82A}">
                    <a16:rowId xmlns:a16="http://schemas.microsoft.com/office/drawing/2014/main" val="891354449"/>
                  </a:ext>
                </a:extLst>
              </a:tr>
              <a:tr h="693592">
                <a:tc>
                  <a:txBody>
                    <a:bodyPr/>
                    <a:lstStyle/>
                    <a:p>
                      <a:r>
                        <a:rPr lang="en-IN" dirty="0">
                          <a:latin typeface="Times New Roman" panose="02020603050405020304" pitchFamily="18" charset="0"/>
                          <a:cs typeface="Times New Roman" panose="02020603050405020304" pitchFamily="18" charset="0"/>
                        </a:rPr>
                        <a:t> Built In Decorators</a:t>
                      </a:r>
                    </a:p>
                  </a:txBody>
                  <a:tcPr/>
                </a:tc>
                <a:tc>
                  <a:txBody>
                    <a:bodyPr/>
                    <a:lstStyle/>
                    <a:p>
                      <a:r>
                        <a:rPr lang="en-IN" dirty="0">
                          <a:latin typeface="Times New Roman" panose="02020603050405020304" pitchFamily="18" charset="0"/>
                          <a:cs typeface="Times New Roman" panose="02020603050405020304" pitchFamily="18" charset="0"/>
                        </a:rPr>
                        <a:t>Predefined decorators in python</a:t>
                      </a:r>
                    </a:p>
                  </a:txBody>
                  <a:tcPr/>
                </a:tc>
                <a:tc>
                  <a:txBody>
                    <a:bodyPr/>
                    <a:lstStyle/>
                    <a:p>
                      <a:r>
                        <a:rPr lang="en-IN" dirty="0">
                          <a:latin typeface="Times New Roman" panose="02020603050405020304" pitchFamily="18" charset="0"/>
                          <a:cs typeface="Times New Roman" panose="02020603050405020304" pitchFamily="18" charset="0"/>
                        </a:rPr>
                        <a:t>@Static method</a:t>
                      </a:r>
                    </a:p>
                    <a:p>
                      <a:r>
                        <a:rPr lang="en-IN" dirty="0">
                          <a:latin typeface="Times New Roman" panose="02020603050405020304" pitchFamily="18" charset="0"/>
                          <a:cs typeface="Times New Roman" panose="02020603050405020304" pitchFamily="18" charset="0"/>
                        </a:rPr>
                        <a:t>@class method</a:t>
                      </a:r>
                    </a:p>
                    <a:p>
                      <a:r>
                        <a:rPr lang="en-IN" dirty="0">
                          <a:latin typeface="Times New Roman" panose="02020603050405020304" pitchFamily="18" charset="0"/>
                          <a:cs typeface="Times New Roman" panose="02020603050405020304" pitchFamily="18" charset="0"/>
                        </a:rPr>
                        <a:t>@property</a:t>
                      </a:r>
                    </a:p>
                  </a:txBody>
                  <a:tcPr/>
                </a:tc>
                <a:extLst>
                  <a:ext uri="{0D108BD9-81ED-4DB2-BD59-A6C34878D82A}">
                    <a16:rowId xmlns:a16="http://schemas.microsoft.com/office/drawing/2014/main" val="755506309"/>
                  </a:ext>
                </a:extLst>
              </a:tr>
            </a:tbl>
          </a:graphicData>
        </a:graphic>
      </p:graphicFrame>
    </p:spTree>
    <p:extLst>
      <p:ext uri="{BB962C8B-B14F-4D97-AF65-F5344CB8AC3E}">
        <p14:creationId xmlns:p14="http://schemas.microsoft.com/office/powerpoint/2010/main" val="35183054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F2C5B-6E6E-4B76-3EA9-9C03B541117A}"/>
              </a:ext>
            </a:extLst>
          </p:cNvPr>
          <p:cNvSpPr>
            <a:spLocks noGrp="1"/>
          </p:cNvSpPr>
          <p:nvPr>
            <p:ph type="title"/>
          </p:nvPr>
        </p:nvSpPr>
        <p:spPr>
          <a:xfrm>
            <a:off x="772885" y="729019"/>
            <a:ext cx="10515600" cy="1006475"/>
          </a:xfrm>
        </p:spPr>
        <p:txBody>
          <a:bodyPr>
            <a:normAutofit/>
          </a:bodyPr>
          <a:lstStyle/>
          <a:p>
            <a:r>
              <a:rPr lang="en-IN" sz="3600" b="1" dirty="0">
                <a:latin typeface="Times New Roman" panose="02020603050405020304" pitchFamily="18" charset="0"/>
                <a:cs typeface="Times New Roman" panose="02020603050405020304" pitchFamily="18" charset="0"/>
              </a:rPr>
              <a:t>Built-In Python Decorators</a:t>
            </a:r>
          </a:p>
        </p:txBody>
      </p:sp>
      <p:sp>
        <p:nvSpPr>
          <p:cNvPr id="3" name="Content Placeholder 2">
            <a:extLst>
              <a:ext uri="{FF2B5EF4-FFF2-40B4-BE49-F238E27FC236}">
                <a16:creationId xmlns:a16="http://schemas.microsoft.com/office/drawing/2014/main" id="{95183E70-163E-538B-2F48-20B311FC9672}"/>
              </a:ext>
            </a:extLst>
          </p:cNvPr>
          <p:cNvSpPr>
            <a:spLocks noGrp="1"/>
          </p:cNvSpPr>
          <p:nvPr>
            <p:ph idx="1"/>
          </p:nvPr>
        </p:nvSpPr>
        <p:spPr>
          <a:xfrm>
            <a:off x="1024813" y="2282825"/>
            <a:ext cx="9658739" cy="4351338"/>
          </a:xfrm>
        </p:spPr>
        <p:txBody>
          <a:bodyPr>
            <a:normAutofit/>
          </a:bodyPr>
          <a:lstStyle/>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@Static method: </a:t>
            </a:r>
            <a:r>
              <a:rPr lang="en-IN" sz="2400" dirty="0">
                <a:latin typeface="Times New Roman" panose="02020603050405020304" pitchFamily="18" charset="0"/>
                <a:cs typeface="Times New Roman" panose="02020603050405020304" pitchFamily="18" charset="0"/>
              </a:rPr>
              <a:t>Defines a static method in a class.</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@class method:</a:t>
            </a:r>
            <a:r>
              <a:rPr lang="en-IN" sz="2400" dirty="0">
                <a:latin typeface="Times New Roman" panose="02020603050405020304" pitchFamily="18" charset="0"/>
                <a:cs typeface="Times New Roman" panose="02020603050405020304" pitchFamily="18" charset="0"/>
              </a:rPr>
              <a:t> Defines a class method inside a class.</a:t>
            </a:r>
          </a:p>
          <a:p>
            <a:pPr marL="514350" indent="-514350">
              <a:buFont typeface="+mj-lt"/>
              <a:buAutoNum type="arabicPeriod"/>
            </a:pPr>
            <a:r>
              <a:rPr lang="en-IN" sz="2400" b="1" dirty="0">
                <a:latin typeface="Times New Roman" panose="02020603050405020304" pitchFamily="18" charset="0"/>
                <a:cs typeface="Times New Roman" panose="02020603050405020304" pitchFamily="18" charset="0"/>
              </a:rPr>
              <a:t>@property: </a:t>
            </a:r>
            <a:r>
              <a:rPr lang="en-IN" sz="2400" dirty="0">
                <a:latin typeface="Times New Roman" panose="02020603050405020304" pitchFamily="18" charset="0"/>
                <a:cs typeface="Times New Roman" panose="02020603050405020304" pitchFamily="18" charset="0"/>
              </a:rPr>
              <a:t>Allows a method to be accessed as an attribute.</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8813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57547-E5E1-0440-EF65-FB4FC54F14C3}"/>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Function Wrapping and </a:t>
            </a:r>
            <a:r>
              <a:rPr lang="en-IN" sz="3600" b="1" dirty="0" err="1">
                <a:latin typeface="Times New Roman" panose="02020603050405020304" pitchFamily="18" charset="0"/>
                <a:cs typeface="Times New Roman" panose="02020603050405020304" pitchFamily="18" charset="0"/>
              </a:rPr>
              <a:t>functools.wraps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E31B944-63D7-859F-D014-37753A12AEF9}"/>
              </a:ext>
            </a:extLst>
          </p:cNvPr>
          <p:cNvSpPr>
            <a:spLocks noGrp="1"/>
          </p:cNvSpPr>
          <p:nvPr>
            <p:ph idx="1"/>
          </p:nvPr>
        </p:nvSpPr>
        <p:spPr/>
        <p:txBody>
          <a:bodyPr>
            <a:normAutofit/>
          </a:bodyPr>
          <a:lstStyle/>
          <a:p>
            <a:pPr>
              <a:lnSpc>
                <a:spcPct val="100000"/>
              </a:lnSpc>
            </a:pPr>
            <a:r>
              <a:rPr lang="en-IN" sz="2400" dirty="0">
                <a:latin typeface="Times New Roman" panose="02020603050405020304" pitchFamily="18" charset="0"/>
                <a:cs typeface="Times New Roman" panose="02020603050405020304" pitchFamily="18" charset="0"/>
              </a:rPr>
              <a:t>When using decorators, the original function’s metadata(name, docstring etc.) may be lost. Use </a:t>
            </a:r>
            <a:r>
              <a:rPr lang="en-IN" sz="2400" dirty="0" err="1">
                <a:latin typeface="Times New Roman" panose="02020603050405020304" pitchFamily="18" charset="0"/>
                <a:cs typeface="Times New Roman" panose="02020603050405020304" pitchFamily="18" charset="0"/>
              </a:rPr>
              <a:t>functools.wraps</a:t>
            </a:r>
            <a:r>
              <a:rPr lang="en-IN" sz="2400" dirty="0">
                <a:latin typeface="Times New Roman" panose="02020603050405020304" pitchFamily="18" charset="0"/>
                <a:cs typeface="Times New Roman" panose="02020603050405020304" pitchFamily="18" charset="0"/>
              </a:rPr>
              <a:t> to preserve the original functions properties.</a:t>
            </a:r>
          </a:p>
        </p:txBody>
      </p:sp>
      <p:pic>
        <p:nvPicPr>
          <p:cNvPr id="5" name="Picture 4">
            <a:extLst>
              <a:ext uri="{FF2B5EF4-FFF2-40B4-BE49-F238E27FC236}">
                <a16:creationId xmlns:a16="http://schemas.microsoft.com/office/drawing/2014/main" id="{54D67962-1D8B-7CF4-7F38-AC13FB66F1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5797" y="2823157"/>
            <a:ext cx="10920406" cy="1758174"/>
          </a:xfrm>
          <a:prstGeom prst="rect">
            <a:avLst/>
          </a:prstGeom>
        </p:spPr>
      </p:pic>
    </p:spTree>
    <p:extLst>
      <p:ext uri="{BB962C8B-B14F-4D97-AF65-F5344CB8AC3E}">
        <p14:creationId xmlns:p14="http://schemas.microsoft.com/office/powerpoint/2010/main" val="16762822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3A5A6-EE69-26AD-115F-8227FB519D45}"/>
              </a:ext>
            </a:extLst>
          </p:cNvPr>
          <p:cNvSpPr>
            <a:spLocks noGrp="1"/>
          </p:cNvSpPr>
          <p:nvPr>
            <p:ph type="title"/>
          </p:nvPr>
        </p:nvSpPr>
        <p:spPr>
          <a:xfrm>
            <a:off x="408992" y="451919"/>
            <a:ext cx="10515600" cy="1325563"/>
          </a:xfrm>
        </p:spPr>
        <p:txBody>
          <a:bodyPr>
            <a:normAutofit/>
          </a:bodyPr>
          <a:lstStyle/>
          <a:p>
            <a:pPr algn="ctr"/>
            <a:r>
              <a:rPr lang="en-US" sz="4000" b="1" dirty="0">
                <a:latin typeface="Times New Roman" panose="02020603050405020304" pitchFamily="18" charset="0"/>
                <a:cs typeface="Times New Roman" panose="02020603050405020304" pitchFamily="18" charset="0"/>
              </a:rPr>
              <a:t>Daily Activities &amp; Their Decorators</a:t>
            </a:r>
            <a:br>
              <a:rPr lang="en-US" sz="4000" b="1" dirty="0">
                <a:latin typeface="Times New Roman" panose="02020603050405020304" pitchFamily="18" charset="0"/>
                <a:cs typeface="Times New Roman" panose="02020603050405020304" pitchFamily="18" charset="0"/>
              </a:rPr>
            </a:br>
            <a:endParaRPr lang="en-IN" sz="2200" dirty="0">
              <a:latin typeface="Times New Roman" panose="02020603050405020304" pitchFamily="18" charset="0"/>
              <a:cs typeface="Times New Roman" panose="02020603050405020304" pitchFamily="18" charset="0"/>
            </a:endParaRPr>
          </a:p>
        </p:txBody>
      </p:sp>
      <p:graphicFrame>
        <p:nvGraphicFramePr>
          <p:cNvPr id="10" name="Content Placeholder 9">
            <a:extLst>
              <a:ext uri="{FF2B5EF4-FFF2-40B4-BE49-F238E27FC236}">
                <a16:creationId xmlns:a16="http://schemas.microsoft.com/office/drawing/2014/main" id="{DADBF7CA-5B49-EB16-4C0A-3C6FD7B89657}"/>
              </a:ext>
            </a:extLst>
          </p:cNvPr>
          <p:cNvGraphicFramePr>
            <a:graphicFrameLocks noGrp="1"/>
          </p:cNvGraphicFramePr>
          <p:nvPr>
            <p:ph idx="1"/>
            <p:extLst>
              <p:ext uri="{D42A27DB-BD31-4B8C-83A1-F6EECF244321}">
                <p14:modId xmlns:p14="http://schemas.microsoft.com/office/powerpoint/2010/main" val="3480678798"/>
              </p:ext>
            </p:extLst>
          </p:nvPr>
        </p:nvGraphicFramePr>
        <p:xfrm>
          <a:off x="838200" y="2074545"/>
          <a:ext cx="10515597" cy="2595880"/>
        </p:xfrm>
        <a:graphic>
          <a:graphicData uri="http://schemas.openxmlformats.org/drawingml/2006/table">
            <a:tbl>
              <a:tblPr firstRow="1" bandRow="1">
                <a:tableStyleId>{5C22544A-7EE6-4342-B048-85BDC9FD1C3A}</a:tableStyleId>
              </a:tblPr>
              <a:tblGrid>
                <a:gridCol w="3099318">
                  <a:extLst>
                    <a:ext uri="{9D8B030D-6E8A-4147-A177-3AD203B41FA5}">
                      <a16:colId xmlns:a16="http://schemas.microsoft.com/office/drawing/2014/main" val="794417399"/>
                    </a:ext>
                  </a:extLst>
                </a:gridCol>
                <a:gridCol w="3911080">
                  <a:extLst>
                    <a:ext uri="{9D8B030D-6E8A-4147-A177-3AD203B41FA5}">
                      <a16:colId xmlns:a16="http://schemas.microsoft.com/office/drawing/2014/main" val="2322911697"/>
                    </a:ext>
                  </a:extLst>
                </a:gridCol>
                <a:gridCol w="3505199">
                  <a:extLst>
                    <a:ext uri="{9D8B030D-6E8A-4147-A177-3AD203B41FA5}">
                      <a16:colId xmlns:a16="http://schemas.microsoft.com/office/drawing/2014/main" val="1271824148"/>
                    </a:ext>
                  </a:extLst>
                </a:gridCol>
              </a:tblGrid>
              <a:tr h="370840">
                <a:tc>
                  <a:txBody>
                    <a:bodyPr/>
                    <a:lstStyle/>
                    <a:p>
                      <a:pPr algn="ctr"/>
                      <a:r>
                        <a:rPr lang="en-US" dirty="0">
                          <a:latin typeface="Times New Roman" panose="02020603050405020304" pitchFamily="18" charset="0"/>
                          <a:cs typeface="Times New Roman" panose="02020603050405020304" pitchFamily="18" charset="0"/>
                        </a:rPr>
                        <a:t>Activity</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Decorator Name</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Decorator Use Case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86398070"/>
                  </a:ext>
                </a:extLst>
              </a:tr>
              <a:tr h="370840">
                <a:tc>
                  <a:txBody>
                    <a:bodyPr/>
                    <a:lstStyle/>
                    <a:p>
                      <a:pPr algn="ctr"/>
                      <a:r>
                        <a:rPr lang="en-US" dirty="0">
                          <a:latin typeface="Times New Roman" panose="02020603050405020304" pitchFamily="18" charset="0"/>
                          <a:cs typeface="Times New Roman" panose="02020603050405020304" pitchFamily="18" charset="0"/>
                        </a:rPr>
                        <a:t>Wake Up </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@wakeup_reminder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Alerts you to wake up</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5841716"/>
                  </a:ext>
                </a:extLst>
              </a:tr>
              <a:tr h="370840">
                <a:tc>
                  <a:txBody>
                    <a:bodyPr/>
                    <a:lstStyle/>
                    <a:p>
                      <a:pPr algn="ctr"/>
                      <a:r>
                        <a:rPr lang="en-US" dirty="0">
                          <a:latin typeface="Times New Roman" panose="02020603050405020304" pitchFamily="18" charset="0"/>
                          <a:cs typeface="Times New Roman" panose="02020603050405020304" pitchFamily="18" charset="0"/>
                        </a:rPr>
                        <a:t>Drink Water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@water_reminder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Encourages hydration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31126207"/>
                  </a:ext>
                </a:extLst>
              </a:tr>
              <a:tr h="370840">
                <a:tc>
                  <a:txBody>
                    <a:bodyPr/>
                    <a:lstStyle/>
                    <a:p>
                      <a:pPr algn="ctr"/>
                      <a:r>
                        <a:rPr lang="en-US" dirty="0">
                          <a:latin typeface="Times New Roman" panose="02020603050405020304" pitchFamily="18" charset="0"/>
                          <a:cs typeface="Times New Roman" panose="02020603050405020304" pitchFamily="18" charset="0"/>
                        </a:rPr>
                        <a:t>Workout </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@workout_timer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Tracks workout duration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54897229"/>
                  </a:ext>
                </a:extLst>
              </a:tr>
              <a:tr h="370840">
                <a:tc>
                  <a:txBody>
                    <a:bodyPr/>
                    <a:lstStyle/>
                    <a:p>
                      <a:pPr algn="ctr"/>
                      <a:r>
                        <a:rPr lang="en-US" dirty="0">
                          <a:latin typeface="Times New Roman" panose="02020603050405020304" pitchFamily="18" charset="0"/>
                          <a:cs typeface="Times New Roman" panose="02020603050405020304" pitchFamily="18" charset="0"/>
                        </a:rPr>
                        <a:t>Cooking </a:t>
                      </a:r>
                    </a:p>
                  </a:txBody>
                  <a:tcPr/>
                </a:tc>
                <a:tc>
                  <a:txBody>
                    <a:bodyPr/>
                    <a:lstStyle/>
                    <a:p>
                      <a:pPr algn="ctr"/>
                      <a:r>
                        <a:rPr lang="en-US" dirty="0">
                          <a:latin typeface="Times New Roman" panose="02020603050405020304" pitchFamily="18" charset="0"/>
                          <a:cs typeface="Times New Roman" panose="02020603050405020304" pitchFamily="18" charset="0"/>
                        </a:rPr>
                        <a:t>@cooking_timer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Measures cooking time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23780431"/>
                  </a:ext>
                </a:extLst>
              </a:tr>
              <a:tr h="370840">
                <a:tc>
                  <a:txBody>
                    <a:bodyPr/>
                    <a:lstStyle/>
                    <a:p>
                      <a:pPr algn="ctr"/>
                      <a:r>
                        <a:rPr lang="en-US" dirty="0">
                          <a:latin typeface="Times New Roman" panose="02020603050405020304" pitchFamily="18" charset="0"/>
                          <a:cs typeface="Times New Roman" panose="02020603050405020304" pitchFamily="18" charset="0"/>
                        </a:rPr>
                        <a:t>Groceries </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@groceries_reminder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Prevents forgetting items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18241284"/>
                  </a:ext>
                </a:extLst>
              </a:tr>
              <a:tr h="370840">
                <a:tc>
                  <a:txBody>
                    <a:bodyPr/>
                    <a:lstStyle/>
                    <a:p>
                      <a:pPr algn="ctr"/>
                      <a:r>
                        <a:rPr lang="en-US" dirty="0">
                          <a:latin typeface="Times New Roman" panose="02020603050405020304" pitchFamily="18" charset="0"/>
                          <a:cs typeface="Times New Roman" panose="02020603050405020304" pitchFamily="18" charset="0"/>
                        </a:rPr>
                        <a:t>Sleeping</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@sleep_tracker</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Tracks sleep duration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45378393"/>
                  </a:ext>
                </a:extLst>
              </a:tr>
            </a:tbl>
          </a:graphicData>
        </a:graphic>
      </p:graphicFrame>
      <p:sp>
        <p:nvSpPr>
          <p:cNvPr id="4" name="TextBox 3">
            <a:extLst>
              <a:ext uri="{FF2B5EF4-FFF2-40B4-BE49-F238E27FC236}">
                <a16:creationId xmlns:a16="http://schemas.microsoft.com/office/drawing/2014/main" id="{D84E7F46-168A-EDFA-8549-9BBA3BFB0258}"/>
              </a:ext>
            </a:extLst>
          </p:cNvPr>
          <p:cNvSpPr txBox="1"/>
          <p:nvPr/>
        </p:nvSpPr>
        <p:spPr>
          <a:xfrm>
            <a:off x="1014705" y="1592816"/>
            <a:ext cx="6097554" cy="369332"/>
          </a:xfrm>
          <a:prstGeom prst="rect">
            <a:avLst/>
          </a:prstGeom>
          <a:noFill/>
        </p:spPr>
        <p:txBody>
          <a:bodyPr wrap="square">
            <a:spAutoFit/>
          </a:bodyPr>
          <a:lstStyle/>
          <a:p>
            <a:r>
              <a:rPr lang="en-US" sz="1800" dirty="0">
                <a:latin typeface="Times New Roman" panose="02020603050405020304" pitchFamily="18" charset="0"/>
                <a:cs typeface="Times New Roman" panose="02020603050405020304" pitchFamily="18" charset="0"/>
              </a:rPr>
              <a:t>Here’s a table with daily activities, their use cases </a:t>
            </a:r>
            <a:endParaRPr lang="en-IN" dirty="0"/>
          </a:p>
        </p:txBody>
      </p:sp>
    </p:spTree>
    <p:extLst>
      <p:ext uri="{BB962C8B-B14F-4D97-AF65-F5344CB8AC3E}">
        <p14:creationId xmlns:p14="http://schemas.microsoft.com/office/powerpoint/2010/main" val="17614646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E3929-7865-F8A7-16D4-E5B8C0B2B21E}"/>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How each Decorator works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1D12A27-B81B-8892-CE11-98A3115BA558}"/>
              </a:ext>
            </a:extLst>
          </p:cNvPr>
          <p:cNvSpPr>
            <a:spLocks noGrp="1"/>
          </p:cNvSpPr>
          <p:nvPr>
            <p:ph idx="1"/>
          </p:nvPr>
        </p:nvSpPr>
        <p:spPr/>
        <p:txBody>
          <a:bodyPr>
            <a:normAutofit/>
          </a:bodyPr>
          <a:lstStyle/>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@wakeup_reminder: </a:t>
            </a:r>
            <a:r>
              <a:rPr lang="en-US" sz="2400" dirty="0">
                <a:latin typeface="Times New Roman" panose="02020603050405020304" pitchFamily="18" charset="0"/>
                <a:cs typeface="Times New Roman" panose="02020603050405020304" pitchFamily="18" charset="0"/>
              </a:rPr>
              <a:t>Prints a wakeup alert before running the function.</a:t>
            </a:r>
            <a:endParaRPr lang="en-US" sz="24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@water_reminder: </a:t>
            </a:r>
            <a:r>
              <a:rPr lang="en-US" sz="2400" dirty="0">
                <a:latin typeface="Times New Roman" panose="02020603050405020304" pitchFamily="18" charset="0"/>
                <a:cs typeface="Times New Roman" panose="02020603050405020304" pitchFamily="18" charset="0"/>
              </a:rPr>
              <a:t>Reminds you to drink water before continuing.</a:t>
            </a:r>
            <a:endParaRPr lang="en-US" sz="24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@workout_timer:</a:t>
            </a:r>
            <a:r>
              <a:rPr lang="en-US" sz="2400" dirty="0">
                <a:latin typeface="Times New Roman" panose="02020603050405020304" pitchFamily="18" charset="0"/>
                <a:cs typeface="Times New Roman" panose="02020603050405020304" pitchFamily="18" charset="0"/>
              </a:rPr>
              <a:t> Tracks how long a workout takes.</a:t>
            </a:r>
            <a:endParaRPr lang="en-US" sz="24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@cooking_timer: </a:t>
            </a:r>
            <a:r>
              <a:rPr lang="en-US" sz="2400" dirty="0">
                <a:latin typeface="Times New Roman" panose="02020603050405020304" pitchFamily="18" charset="0"/>
                <a:cs typeface="Times New Roman" panose="02020603050405020304" pitchFamily="18" charset="0"/>
              </a:rPr>
              <a:t>Logs cooking duration for efficiency.</a:t>
            </a:r>
            <a:endParaRPr lang="en-US" sz="24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@groceries_reminder: </a:t>
            </a:r>
            <a:r>
              <a:rPr lang="en-US" sz="2400" dirty="0">
                <a:latin typeface="Times New Roman" panose="02020603050405020304" pitchFamily="18" charset="0"/>
                <a:cs typeface="Times New Roman" panose="02020603050405020304" pitchFamily="18" charset="0"/>
              </a:rPr>
              <a:t>Ensures you check your groceries list before leaving.</a:t>
            </a:r>
            <a:endParaRPr lang="en-US" sz="2400" b="1"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@sleep_tracker: </a:t>
            </a:r>
            <a:r>
              <a:rPr lang="en-US" sz="2400" dirty="0">
                <a:latin typeface="Times New Roman" panose="02020603050405020304" pitchFamily="18" charset="0"/>
                <a:cs typeface="Times New Roman" panose="02020603050405020304" pitchFamily="18" charset="0"/>
              </a:rPr>
              <a:t>Tracks and logs sleep time.</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73410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73B40-00A5-675C-B226-829D7F6A1D61}"/>
              </a:ext>
            </a:extLst>
          </p:cNvPr>
          <p:cNvSpPr>
            <a:spLocks noGrp="1"/>
          </p:cNvSpPr>
          <p:nvPr>
            <p:ph type="title"/>
          </p:nvPr>
        </p:nvSpPr>
        <p:spPr>
          <a:xfrm>
            <a:off x="838200" y="18255"/>
            <a:ext cx="10515600" cy="1325563"/>
          </a:xfrm>
        </p:spPr>
        <p:txBody>
          <a:bodyPr>
            <a:normAutofit/>
          </a:bodyPr>
          <a:lstStyle/>
          <a:p>
            <a:r>
              <a:rPr lang="en-US" sz="3200" b="1" dirty="0">
                <a:solidFill>
                  <a:srgbClr val="00B050"/>
                </a:solidFill>
                <a:latin typeface="Times New Roman" panose="02020603050405020304" pitchFamily="18" charset="0"/>
                <a:cs typeface="Times New Roman" panose="02020603050405020304" pitchFamily="18" charset="0"/>
              </a:rPr>
              <a:t>1. Wake Up Reminder Decorator</a:t>
            </a:r>
            <a:endParaRPr lang="en-IN" sz="32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1916013-C82F-8B01-7927-029C9C0852FA}"/>
              </a:ext>
            </a:extLst>
          </p:cNvPr>
          <p:cNvSpPr>
            <a:spLocks noGrp="1"/>
          </p:cNvSpPr>
          <p:nvPr>
            <p:ph idx="1"/>
          </p:nvPr>
        </p:nvSpPr>
        <p:spPr>
          <a:xfrm>
            <a:off x="838200" y="1194318"/>
            <a:ext cx="10515600" cy="4674734"/>
          </a:xfrm>
        </p:spPr>
        <p:txBody>
          <a:bodyPr>
            <a:normAutofit/>
          </a:bodyPr>
          <a:lstStyle/>
          <a:p>
            <a:pPr marL="0" indent="0">
              <a:buNone/>
            </a:pPr>
            <a:r>
              <a:rPr lang="en-US" sz="1600" b="1" i="0" u="sng" dirty="0" err="1">
                <a:effectLst/>
                <a:latin typeface="Times New Roman" panose="02020603050405020304" pitchFamily="18" charset="0"/>
                <a:cs typeface="Times New Roman" panose="02020603050405020304" pitchFamily="18" charset="0"/>
              </a:rPr>
              <a:t>wakeup_remainder</a:t>
            </a:r>
            <a:r>
              <a:rPr lang="en-US" sz="1600" b="1" i="0" u="sng" dirty="0">
                <a:effectLst/>
                <a:latin typeface="Times New Roman" panose="02020603050405020304" pitchFamily="18" charset="0"/>
                <a:cs typeface="Times New Roman" panose="02020603050405020304" pitchFamily="18" charset="0"/>
              </a:rPr>
              <a:t>: </a:t>
            </a:r>
            <a:r>
              <a:rPr lang="en-US" sz="1600" i="0" dirty="0">
                <a:effectLst/>
                <a:latin typeface="Times New Roman" panose="02020603050405020304" pitchFamily="18" charset="0"/>
                <a:cs typeface="Times New Roman" panose="02020603050405020304" pitchFamily="18" charset="0"/>
              </a:rPr>
              <a:t>wakeup alert(morning routine notification). This decorator ensures you don’t forget to wake up on time.</a:t>
            </a:r>
          </a:p>
          <a:p>
            <a:pPr marL="0" indent="0">
              <a:buNone/>
            </a:pPr>
            <a:r>
              <a:rPr lang="en-US" sz="2000" b="1" dirty="0">
                <a:solidFill>
                  <a:srgbClr val="FF0000"/>
                </a:solidFill>
                <a:latin typeface="Times New Roman" panose="02020603050405020304" pitchFamily="18" charset="0"/>
                <a:cs typeface="Times New Roman" panose="02020603050405020304" pitchFamily="18" charset="0"/>
              </a:rPr>
              <a:t>Program:</a:t>
            </a:r>
          </a:p>
          <a:p>
            <a:pPr marL="0" indent="0">
              <a:buNone/>
            </a:pPr>
            <a:r>
              <a:rPr lang="en-US" sz="1400" dirty="0">
                <a:latin typeface="Times New Roman" panose="02020603050405020304" pitchFamily="18" charset="0"/>
                <a:cs typeface="Times New Roman" panose="02020603050405020304" pitchFamily="18" charset="0"/>
              </a:rPr>
              <a:t>import time</a:t>
            </a:r>
          </a:p>
          <a:p>
            <a:pPr marL="0" indent="0">
              <a:buNone/>
            </a:pPr>
            <a:r>
              <a:rPr lang="en-US" sz="1400" dirty="0">
                <a:latin typeface="Times New Roman" panose="02020603050405020304" pitchFamily="18" charset="0"/>
                <a:cs typeface="Times New Roman" panose="02020603050405020304" pitchFamily="18" charset="0"/>
              </a:rPr>
              <a:t>def </a:t>
            </a:r>
            <a:r>
              <a:rPr lang="en-US" sz="1400" dirty="0" err="1">
                <a:latin typeface="Times New Roman" panose="02020603050405020304" pitchFamily="18" charset="0"/>
                <a:cs typeface="Times New Roman" panose="02020603050405020304" pitchFamily="18" charset="0"/>
              </a:rPr>
              <a:t>wakeup_reminder</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func</a:t>
            </a:r>
            <a:r>
              <a:rPr lang="en-US" sz="14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      def wrapper(*</a:t>
            </a:r>
            <a:r>
              <a:rPr lang="en-US" sz="1400" dirty="0" err="1">
                <a:latin typeface="Times New Roman" panose="02020603050405020304" pitchFamily="18" charset="0"/>
                <a:cs typeface="Times New Roman" panose="02020603050405020304" pitchFamily="18" charset="0"/>
              </a:rPr>
              <a:t>args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kwargs</a:t>
            </a:r>
            <a:r>
              <a:rPr lang="en-US" sz="14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             print(“Reminder: It’s time to wake up!”)</a:t>
            </a:r>
          </a:p>
          <a:p>
            <a:pPr marL="0" indent="0">
              <a:buNone/>
            </a:pPr>
            <a:r>
              <a:rPr lang="en-US" sz="1400" dirty="0">
                <a:latin typeface="Times New Roman" panose="02020603050405020304" pitchFamily="18" charset="0"/>
                <a:cs typeface="Times New Roman" panose="02020603050405020304" pitchFamily="18" charset="0"/>
              </a:rPr>
              <a:t>             return </a:t>
            </a:r>
            <a:r>
              <a:rPr lang="en-US" sz="1400" dirty="0" err="1">
                <a:latin typeface="Times New Roman" panose="02020603050405020304" pitchFamily="18" charset="0"/>
                <a:cs typeface="Times New Roman" panose="02020603050405020304" pitchFamily="18" charset="0"/>
              </a:rPr>
              <a:t>func</a:t>
            </a:r>
            <a:r>
              <a:rPr lang="en-US" sz="1400" dirty="0">
                <a:latin typeface="Times New Roman" panose="02020603050405020304" pitchFamily="18" charset="0"/>
                <a:cs typeface="Times New Roman" panose="02020603050405020304" pitchFamily="18" charset="0"/>
              </a:rPr>
              <a:t>(*</a:t>
            </a:r>
            <a:r>
              <a:rPr lang="en-US" sz="1400" dirty="0" err="1">
                <a:latin typeface="Times New Roman" panose="02020603050405020304" pitchFamily="18" charset="0"/>
                <a:cs typeface="Times New Roman" panose="02020603050405020304" pitchFamily="18" charset="0"/>
              </a:rPr>
              <a:t>args</a:t>
            </a:r>
            <a:r>
              <a:rPr lang="en-US" sz="1400" dirty="0">
                <a:latin typeface="Times New Roman" panose="02020603050405020304" pitchFamily="18" charset="0"/>
                <a:cs typeface="Times New Roman" panose="02020603050405020304" pitchFamily="18" charset="0"/>
              </a:rPr>
              <a:t>, **</a:t>
            </a:r>
            <a:r>
              <a:rPr lang="en-US" sz="1400" dirty="0" err="1">
                <a:latin typeface="Times New Roman" panose="02020603050405020304" pitchFamily="18" charset="0"/>
                <a:cs typeface="Times New Roman" panose="02020603050405020304" pitchFamily="18" charset="0"/>
              </a:rPr>
              <a:t>kwargs</a:t>
            </a:r>
            <a:r>
              <a:rPr lang="en-US" sz="1400" dirty="0">
                <a:latin typeface="Times New Roman" panose="02020603050405020304" pitchFamily="18" charset="0"/>
                <a:cs typeface="Times New Roman" panose="02020603050405020304" pitchFamily="18" charset="0"/>
              </a:rPr>
              <a:t>)</a:t>
            </a:r>
          </a:p>
          <a:p>
            <a:pPr marL="0" indent="0">
              <a:buNone/>
            </a:pPr>
            <a:r>
              <a:rPr lang="en-US" sz="1400" dirty="0">
                <a:latin typeface="Times New Roman" panose="02020603050405020304" pitchFamily="18" charset="0"/>
                <a:cs typeface="Times New Roman" panose="02020603050405020304" pitchFamily="18" charset="0"/>
              </a:rPr>
              <a:t>       return wrapper</a:t>
            </a:r>
          </a:p>
          <a:p>
            <a:pPr marL="0" indent="0">
              <a:buNone/>
            </a:pPr>
            <a:r>
              <a:rPr lang="en-US" sz="1400" dirty="0">
                <a:latin typeface="Times New Roman" panose="02020603050405020304" pitchFamily="18" charset="0"/>
                <a:cs typeface="Times New Roman" panose="02020603050405020304" pitchFamily="18" charset="0"/>
              </a:rPr>
              <a:t>@wakeup_reminder</a:t>
            </a:r>
          </a:p>
          <a:p>
            <a:pPr marL="0" indent="0">
              <a:buNone/>
            </a:pPr>
            <a:r>
              <a:rPr lang="en-US" sz="1400" dirty="0">
                <a:latin typeface="Times New Roman" panose="02020603050405020304" pitchFamily="18" charset="0"/>
                <a:cs typeface="Times New Roman" panose="02020603050405020304" pitchFamily="18" charset="0"/>
              </a:rPr>
              <a:t>def </a:t>
            </a:r>
            <a:r>
              <a:rPr lang="en-US" sz="1400" dirty="0" err="1">
                <a:latin typeface="Times New Roman" panose="02020603050405020304" pitchFamily="18" charset="0"/>
                <a:cs typeface="Times New Roman" panose="02020603050405020304" pitchFamily="18" charset="0"/>
              </a:rPr>
              <a:t>morning_routine</a:t>
            </a:r>
            <a:r>
              <a:rPr lang="en-US" sz="1400" dirty="0">
                <a:latin typeface="Times New Roman" panose="02020603050405020304" pitchFamily="18" charset="0"/>
                <a:cs typeface="Times New Roman" panose="02020603050405020304" pitchFamily="18" charset="0"/>
              </a:rPr>
              <a:t>(name):</a:t>
            </a:r>
          </a:p>
          <a:p>
            <a:pPr marL="0" indent="0">
              <a:buNone/>
            </a:pPr>
            <a:r>
              <a:rPr lang="en-US" sz="1400" dirty="0">
                <a:latin typeface="Times New Roman" panose="02020603050405020304" pitchFamily="18" charset="0"/>
                <a:cs typeface="Times New Roman" panose="02020603050405020304" pitchFamily="18" charset="0"/>
              </a:rPr>
              <a:t>      print(f  “Good morning, {name}! Time to start your day.”)</a:t>
            </a:r>
          </a:p>
          <a:p>
            <a:pPr marL="0" indent="0">
              <a:buNone/>
            </a:pPr>
            <a:r>
              <a:rPr lang="en-US" sz="1400" dirty="0">
                <a:latin typeface="Times New Roman" panose="02020603050405020304" pitchFamily="18" charset="0"/>
                <a:cs typeface="Times New Roman" panose="02020603050405020304" pitchFamily="18" charset="0"/>
              </a:rPr>
              <a:t>Name = input(“Enter your name:”)</a:t>
            </a:r>
          </a:p>
          <a:p>
            <a:pPr marL="0" indent="0">
              <a:buNone/>
            </a:pPr>
            <a:r>
              <a:rPr lang="en-US" sz="1400" dirty="0" err="1">
                <a:latin typeface="Times New Roman" panose="02020603050405020304" pitchFamily="18" charset="0"/>
                <a:cs typeface="Times New Roman" panose="02020603050405020304" pitchFamily="18" charset="0"/>
              </a:rPr>
              <a:t>Morning_routine</a:t>
            </a:r>
            <a:r>
              <a:rPr lang="en-US" sz="1400" dirty="0">
                <a:latin typeface="Times New Roman" panose="02020603050405020304" pitchFamily="18" charset="0"/>
                <a:cs typeface="Times New Roman" panose="02020603050405020304" pitchFamily="18" charset="0"/>
              </a:rPr>
              <a:t>(name)</a:t>
            </a:r>
          </a:p>
          <a:p>
            <a:pPr marL="0" indent="0">
              <a:buNone/>
            </a:pPr>
            <a:endParaRPr lang="en-US" sz="1400" dirty="0">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15327681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A690977-D64E-B54D-9A5A-7E0B5197B159}"/>
              </a:ext>
            </a:extLst>
          </p:cNvPr>
          <p:cNvSpPr>
            <a:spLocks noGrp="1"/>
          </p:cNvSpPr>
          <p:nvPr>
            <p:ph idx="1"/>
          </p:nvPr>
        </p:nvSpPr>
        <p:spPr>
          <a:xfrm>
            <a:off x="838200" y="1153821"/>
            <a:ext cx="10515600" cy="4351338"/>
          </a:xfrm>
        </p:spPr>
        <p:txBody>
          <a:bodyPr>
            <a:normAutofit/>
          </a:bodyPr>
          <a:lstStyle/>
          <a:p>
            <a:pPr marL="0" indent="0">
              <a:buNone/>
            </a:pPr>
            <a:r>
              <a:rPr lang="en-US" sz="2400"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sz="24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sz="2400" b="1" dirty="0">
              <a:solidFill>
                <a:srgbClr val="FF0000"/>
              </a:solidFill>
              <a:latin typeface="Times New Roman" panose="02020603050405020304" pitchFamily="18" charset="0"/>
              <a:cs typeface="Times New Roman" panose="02020603050405020304" pitchFamily="18" charset="0"/>
            </a:endParaRPr>
          </a:p>
          <a:p>
            <a:pPr marL="0" indent="0">
              <a:buNone/>
            </a:pPr>
            <a:r>
              <a:rPr lang="en-US" sz="2400" b="1" dirty="0">
                <a:solidFill>
                  <a:srgbClr val="FF0000"/>
                </a:solidFill>
                <a:latin typeface="Times New Roman" panose="02020603050405020304" pitchFamily="18" charset="0"/>
                <a:cs typeface="Times New Roman" panose="02020603050405020304" pitchFamily="18" charset="0"/>
              </a:rPr>
              <a:t>Output:</a:t>
            </a:r>
          </a:p>
          <a:p>
            <a:pPr marL="0" indent="0">
              <a:buNone/>
            </a:pPr>
            <a:endParaRPr lang="en-US" sz="24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IN" sz="2400"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50A6EE4-BB72-CB49-F884-A7408F0D13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5106" y="1752667"/>
            <a:ext cx="9144792" cy="514672"/>
          </a:xfrm>
          <a:prstGeom prst="rect">
            <a:avLst/>
          </a:prstGeom>
        </p:spPr>
      </p:pic>
      <p:pic>
        <p:nvPicPr>
          <p:cNvPr id="7" name="Picture 6">
            <a:extLst>
              <a:ext uri="{FF2B5EF4-FFF2-40B4-BE49-F238E27FC236}">
                <a16:creationId xmlns:a16="http://schemas.microsoft.com/office/drawing/2014/main" id="{2D7424D0-DD01-3DC2-23B7-C22F347CDA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4261" y="3086069"/>
            <a:ext cx="4038950" cy="646175"/>
          </a:xfrm>
          <a:prstGeom prst="rect">
            <a:avLst/>
          </a:prstGeom>
        </p:spPr>
      </p:pic>
    </p:spTree>
    <p:extLst>
      <p:ext uri="{BB962C8B-B14F-4D97-AF65-F5344CB8AC3E}">
        <p14:creationId xmlns:p14="http://schemas.microsoft.com/office/powerpoint/2010/main" val="38786430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7EC1B-D331-6F00-F10A-E23F8D501410}"/>
              </a:ext>
            </a:extLst>
          </p:cNvPr>
          <p:cNvSpPr>
            <a:spLocks noGrp="1"/>
          </p:cNvSpPr>
          <p:nvPr>
            <p:ph type="title"/>
          </p:nvPr>
        </p:nvSpPr>
        <p:spPr>
          <a:xfrm>
            <a:off x="763555" y="141190"/>
            <a:ext cx="10515600" cy="1325563"/>
          </a:xfrm>
        </p:spPr>
        <p:txBody>
          <a:bodyPr>
            <a:normAutofit/>
          </a:bodyPr>
          <a:lstStyle/>
          <a:p>
            <a:r>
              <a:rPr lang="en-US" sz="3200" b="1" dirty="0">
                <a:solidFill>
                  <a:srgbClr val="00B050"/>
                </a:solidFill>
                <a:latin typeface="Times New Roman" panose="02020603050405020304" pitchFamily="18" charset="0"/>
                <a:cs typeface="Times New Roman" panose="02020603050405020304" pitchFamily="18" charset="0"/>
              </a:rPr>
              <a:t>2.Water Drinking Remainder Decorator</a:t>
            </a:r>
            <a:endParaRPr lang="en-IN" sz="32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FF6CCFB-2473-4995-86E1-E35B921E4D15}"/>
              </a:ext>
            </a:extLst>
          </p:cNvPr>
          <p:cNvSpPr>
            <a:spLocks noGrp="1"/>
          </p:cNvSpPr>
          <p:nvPr>
            <p:ph idx="1"/>
          </p:nvPr>
        </p:nvSpPr>
        <p:spPr>
          <a:xfrm>
            <a:off x="838200" y="1253331"/>
            <a:ext cx="10515600" cy="4351338"/>
          </a:xfrm>
        </p:spPr>
        <p:txBody>
          <a:bodyPr>
            <a:normAutofit fontScale="92500" lnSpcReduction="10000"/>
          </a:bodyPr>
          <a:lstStyle/>
          <a:p>
            <a:pPr marL="0" indent="0">
              <a:buNone/>
            </a:pPr>
            <a:r>
              <a:rPr lang="en-US" sz="1800" b="1" i="0" u="sng" dirty="0" err="1">
                <a:effectLst/>
                <a:latin typeface="Times New Roman" panose="02020603050405020304" pitchFamily="18" charset="0"/>
                <a:cs typeface="Times New Roman" panose="02020603050405020304" pitchFamily="18" charset="0"/>
              </a:rPr>
              <a:t>water_remainder</a:t>
            </a:r>
            <a:r>
              <a:rPr lang="en-US" sz="1800" b="1" u="sng" dirty="0">
                <a:latin typeface="Times New Roman" panose="02020603050405020304" pitchFamily="18" charset="0"/>
                <a:cs typeface="Times New Roman" panose="02020603050405020304" pitchFamily="18" charset="0"/>
              </a:rPr>
              <a:t>: </a:t>
            </a:r>
            <a:r>
              <a:rPr lang="en-US" sz="1800" i="0" dirty="0">
                <a:effectLst/>
                <a:latin typeface="Times New Roman" panose="02020603050405020304" pitchFamily="18" charset="0"/>
                <a:cs typeface="Times New Roman" panose="02020603050405020304" pitchFamily="18" charset="0"/>
              </a:rPr>
              <a:t>hydration alert(Drinking enough water daily).Reminds you to drink at regular intervals.</a:t>
            </a:r>
          </a:p>
          <a:p>
            <a:pPr marL="0" indent="0">
              <a:buNone/>
            </a:pPr>
            <a:r>
              <a:rPr lang="en-US" sz="1800" b="1" dirty="0">
                <a:solidFill>
                  <a:srgbClr val="FF0000"/>
                </a:solidFill>
                <a:latin typeface="Times New Roman" panose="02020603050405020304" pitchFamily="18" charset="0"/>
                <a:cs typeface="Times New Roman" panose="02020603050405020304" pitchFamily="18" charset="0"/>
              </a:rPr>
              <a:t>Program:</a:t>
            </a:r>
          </a:p>
          <a:p>
            <a:pPr marL="0" indent="0">
              <a:buNone/>
            </a:pPr>
            <a:r>
              <a:rPr lang="en-US" sz="1800" dirty="0">
                <a:latin typeface="Times New Roman" panose="02020603050405020304" pitchFamily="18" charset="0"/>
                <a:cs typeface="Times New Roman" panose="02020603050405020304" pitchFamily="18" charset="0"/>
              </a:rPr>
              <a:t>import time</a:t>
            </a:r>
          </a:p>
          <a:p>
            <a:pPr marL="0" indent="0">
              <a:buNone/>
            </a:pPr>
            <a:r>
              <a:rPr lang="en-US" sz="1800" dirty="0">
                <a:latin typeface="Times New Roman" panose="02020603050405020304" pitchFamily="18" charset="0"/>
                <a:cs typeface="Times New Roman" panose="02020603050405020304" pitchFamily="18" charset="0"/>
              </a:rPr>
              <a:t>def </a:t>
            </a:r>
            <a:r>
              <a:rPr lang="en-US" sz="1800" dirty="0" err="1">
                <a:latin typeface="Times New Roman" panose="02020603050405020304" pitchFamily="18" charset="0"/>
                <a:cs typeface="Times New Roman" panose="02020603050405020304" pitchFamily="18" charset="0"/>
              </a:rPr>
              <a:t>water_reminder</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func</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def wrapper(*</a:t>
            </a:r>
            <a:r>
              <a:rPr lang="en-US" sz="1800" dirty="0" err="1">
                <a:latin typeface="Times New Roman" panose="02020603050405020304" pitchFamily="18" charset="0"/>
                <a:cs typeface="Times New Roman" panose="02020603050405020304" pitchFamily="18" charset="0"/>
              </a:rPr>
              <a:t>args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kwargs</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print(“Reminder: Drink a glass of water!”)</a:t>
            </a:r>
          </a:p>
          <a:p>
            <a:pPr marL="0" indent="0">
              <a:buNone/>
            </a:pPr>
            <a:r>
              <a:rPr lang="en-US" sz="1800" dirty="0">
                <a:latin typeface="Times New Roman" panose="02020603050405020304" pitchFamily="18" charset="0"/>
                <a:cs typeface="Times New Roman" panose="02020603050405020304" pitchFamily="18" charset="0"/>
              </a:rPr>
              <a:t>             return </a:t>
            </a:r>
            <a:r>
              <a:rPr lang="en-US" sz="1800" dirty="0" err="1">
                <a:latin typeface="Times New Roman" panose="02020603050405020304" pitchFamily="18" charset="0"/>
                <a:cs typeface="Times New Roman" panose="02020603050405020304" pitchFamily="18" charset="0"/>
              </a:rPr>
              <a:t>func</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args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kwargs</a:t>
            </a:r>
            <a:r>
              <a:rPr lang="en-US" sz="1800" dirty="0">
                <a:latin typeface="Times New Roman" panose="02020603050405020304" pitchFamily="18" charset="0"/>
                <a:cs typeface="Times New Roman" panose="02020603050405020304" pitchFamily="18" charset="0"/>
              </a:rPr>
              <a:t>)</a:t>
            </a:r>
          </a:p>
          <a:p>
            <a:pPr marL="0" indent="0">
              <a:buNone/>
            </a:pPr>
            <a:r>
              <a:rPr lang="en-US" sz="1800" dirty="0">
                <a:latin typeface="Times New Roman" panose="02020603050405020304" pitchFamily="18" charset="0"/>
                <a:cs typeface="Times New Roman" panose="02020603050405020304" pitchFamily="18" charset="0"/>
              </a:rPr>
              <a:t>      return wrapper</a:t>
            </a:r>
          </a:p>
          <a:p>
            <a:pPr marL="0" indent="0">
              <a:buNone/>
            </a:pPr>
            <a:r>
              <a:rPr lang="en-US" sz="1800" dirty="0">
                <a:latin typeface="Times New Roman" panose="02020603050405020304" pitchFamily="18" charset="0"/>
                <a:cs typeface="Times New Roman" panose="02020603050405020304" pitchFamily="18" charset="0"/>
              </a:rPr>
              <a:t>@water_reminder</a:t>
            </a:r>
          </a:p>
          <a:p>
            <a:pPr marL="0" indent="0">
              <a:buNone/>
            </a:pPr>
            <a:r>
              <a:rPr lang="en-US" sz="1800" dirty="0">
                <a:latin typeface="Times New Roman" panose="02020603050405020304" pitchFamily="18" charset="0"/>
                <a:cs typeface="Times New Roman" panose="02020603050405020304" pitchFamily="18" charset="0"/>
              </a:rPr>
              <a:t>def </a:t>
            </a:r>
            <a:r>
              <a:rPr lang="en-US" sz="1800" dirty="0" err="1">
                <a:latin typeface="Times New Roman" panose="02020603050405020304" pitchFamily="18" charset="0"/>
                <a:cs typeface="Times New Roman" panose="02020603050405020304" pitchFamily="18" charset="0"/>
              </a:rPr>
              <a:t>drink_water</a:t>
            </a:r>
            <a:r>
              <a:rPr lang="en-US" sz="1800" dirty="0">
                <a:latin typeface="Times New Roman" panose="02020603050405020304" pitchFamily="18" charset="0"/>
                <a:cs typeface="Times New Roman" panose="02020603050405020304" pitchFamily="18" charset="0"/>
              </a:rPr>
              <a:t>(name):</a:t>
            </a:r>
          </a:p>
          <a:p>
            <a:pPr marL="0" indent="0">
              <a:buNone/>
            </a:pPr>
            <a:r>
              <a:rPr lang="en-US" sz="1800" dirty="0">
                <a:latin typeface="Times New Roman" panose="02020603050405020304" pitchFamily="18" charset="0"/>
                <a:cs typeface="Times New Roman" panose="02020603050405020304" pitchFamily="18" charset="0"/>
              </a:rPr>
              <a:t>      print(f “{name}, you just drank water! Stay hydrated!”)</a:t>
            </a:r>
          </a:p>
          <a:p>
            <a:pPr marL="0" indent="0">
              <a:buNone/>
            </a:pPr>
            <a:r>
              <a:rPr lang="en-US" sz="1800" dirty="0">
                <a:latin typeface="Times New Roman" panose="02020603050405020304" pitchFamily="18" charset="0"/>
                <a:cs typeface="Times New Roman" panose="02020603050405020304" pitchFamily="18" charset="0"/>
              </a:rPr>
              <a:t>name = input(“Enter your name:”)</a:t>
            </a:r>
          </a:p>
          <a:p>
            <a:pPr marL="0" indent="0">
              <a:buNone/>
            </a:pPr>
            <a:r>
              <a:rPr lang="en-US" sz="1800" dirty="0" err="1">
                <a:latin typeface="Times New Roman" panose="02020603050405020304" pitchFamily="18" charset="0"/>
                <a:cs typeface="Times New Roman" panose="02020603050405020304" pitchFamily="18" charset="0"/>
              </a:rPr>
              <a:t>drink_water</a:t>
            </a:r>
            <a:r>
              <a:rPr lang="en-US" sz="1800" dirty="0">
                <a:latin typeface="Times New Roman" panose="02020603050405020304" pitchFamily="18" charset="0"/>
                <a:cs typeface="Times New Roman" panose="02020603050405020304" pitchFamily="18" charset="0"/>
              </a:rPr>
              <a:t>(name)</a:t>
            </a:r>
          </a:p>
          <a:p>
            <a:pPr marL="0" indent="0">
              <a:buNone/>
            </a:pPr>
            <a:endParaRPr lang="en-US" sz="1800" i="0" dirty="0">
              <a:effectLst/>
              <a:latin typeface="Times New Roman" panose="02020603050405020304" pitchFamily="18" charset="0"/>
              <a:cs typeface="Times New Roman" panose="02020603050405020304" pitchFamily="18" charset="0"/>
            </a:endParaRPr>
          </a:p>
          <a:p>
            <a:pPr marL="0" indent="0">
              <a:buNone/>
            </a:pPr>
            <a:endParaRPr lang="en-IN" dirty="0"/>
          </a:p>
        </p:txBody>
      </p:sp>
    </p:spTree>
    <p:extLst>
      <p:ext uri="{BB962C8B-B14F-4D97-AF65-F5344CB8AC3E}">
        <p14:creationId xmlns:p14="http://schemas.microsoft.com/office/powerpoint/2010/main" val="866356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B4D6DC4-00C6-421F-0592-2617BBFB9022}"/>
              </a:ext>
            </a:extLst>
          </p:cNvPr>
          <p:cNvSpPr>
            <a:spLocks noGrp="1"/>
          </p:cNvSpPr>
          <p:nvPr>
            <p:ph idx="1"/>
          </p:nvPr>
        </p:nvSpPr>
        <p:spPr>
          <a:xfrm>
            <a:off x="838200" y="1013862"/>
            <a:ext cx="10515600" cy="4351338"/>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Output:</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1D83D4B-35E9-4D90-4C9C-3E341DDB2F4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549" y="2740540"/>
            <a:ext cx="3711262" cy="688459"/>
          </a:xfrm>
          <a:prstGeom prst="rect">
            <a:avLst/>
          </a:prstGeom>
        </p:spPr>
      </p:pic>
      <p:pic>
        <p:nvPicPr>
          <p:cNvPr id="9" name="Picture 8">
            <a:extLst>
              <a:ext uri="{FF2B5EF4-FFF2-40B4-BE49-F238E27FC236}">
                <a16:creationId xmlns:a16="http://schemas.microsoft.com/office/drawing/2014/main" id="{07639D52-9FF1-4432-AA48-EB2D3DC118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596018"/>
            <a:ext cx="4229467" cy="419395"/>
          </a:xfrm>
          <a:prstGeom prst="rect">
            <a:avLst/>
          </a:prstGeom>
        </p:spPr>
      </p:pic>
    </p:spTree>
    <p:extLst>
      <p:ext uri="{BB962C8B-B14F-4D97-AF65-F5344CB8AC3E}">
        <p14:creationId xmlns:p14="http://schemas.microsoft.com/office/powerpoint/2010/main" val="27626525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781FA-A113-1F5E-B905-3C01B1794A08}"/>
              </a:ext>
            </a:extLst>
          </p:cNvPr>
          <p:cNvSpPr>
            <a:spLocks noGrp="1"/>
          </p:cNvSpPr>
          <p:nvPr>
            <p:ph type="title"/>
          </p:nvPr>
        </p:nvSpPr>
        <p:spPr>
          <a:xfrm>
            <a:off x="763555" y="215835"/>
            <a:ext cx="10515600" cy="1325563"/>
          </a:xfrm>
        </p:spPr>
        <p:txBody>
          <a:bodyPr>
            <a:normAutofit/>
          </a:bodyPr>
          <a:lstStyle/>
          <a:p>
            <a:r>
              <a:rPr lang="en-US" sz="3200" b="1" dirty="0">
                <a:solidFill>
                  <a:srgbClr val="00B050"/>
                </a:solidFill>
                <a:latin typeface="Times New Roman" panose="02020603050405020304" pitchFamily="18" charset="0"/>
                <a:cs typeface="Times New Roman" panose="02020603050405020304" pitchFamily="18" charset="0"/>
              </a:rPr>
              <a:t>3.Work Out Timer Decorator</a:t>
            </a:r>
            <a:r>
              <a:rPr lang="en-US" sz="3200" b="1" i="0" dirty="0">
                <a:solidFill>
                  <a:srgbClr val="00B050"/>
                </a:solidFill>
                <a:effectLst/>
                <a:latin typeface="Times New Roman" panose="02020603050405020304" pitchFamily="18" charset="0"/>
                <a:cs typeface="Times New Roman" panose="02020603050405020304" pitchFamily="18" charset="0"/>
              </a:rPr>
              <a:t> </a:t>
            </a:r>
            <a:endParaRPr lang="en-IN" sz="32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834060-969C-E84E-A08F-8F778085A595}"/>
              </a:ext>
            </a:extLst>
          </p:cNvPr>
          <p:cNvSpPr>
            <a:spLocks noGrp="1"/>
          </p:cNvSpPr>
          <p:nvPr>
            <p:ph idx="1"/>
          </p:nvPr>
        </p:nvSpPr>
        <p:spPr>
          <a:xfrm>
            <a:off x="838200" y="1166327"/>
            <a:ext cx="10515600" cy="5475837"/>
          </a:xfrm>
        </p:spPr>
        <p:txBody>
          <a:bodyPr>
            <a:normAutofit fontScale="55000" lnSpcReduction="20000"/>
          </a:bodyPr>
          <a:lstStyle/>
          <a:p>
            <a:pPr marL="0" indent="0">
              <a:buNone/>
            </a:pPr>
            <a:r>
              <a:rPr lang="en-US" sz="2500" b="1" i="0" u="sng" dirty="0" err="1">
                <a:effectLst/>
                <a:latin typeface="Times New Roman" panose="02020603050405020304" pitchFamily="18" charset="0"/>
                <a:cs typeface="Times New Roman" panose="02020603050405020304" pitchFamily="18" charset="0"/>
              </a:rPr>
              <a:t>workout_timer</a:t>
            </a:r>
            <a:r>
              <a:rPr lang="en-US" sz="2500" b="1" u="sng" dirty="0" err="1">
                <a:latin typeface="Times New Roman" panose="02020603050405020304" pitchFamily="18" charset="0"/>
                <a:cs typeface="Times New Roman" panose="02020603050405020304" pitchFamily="18" charset="0"/>
              </a:rPr>
              <a:t>:</a:t>
            </a:r>
            <a:r>
              <a:rPr lang="en-US" sz="2500" i="0" dirty="0" err="1">
                <a:effectLst/>
                <a:latin typeface="Times New Roman" panose="02020603050405020304" pitchFamily="18" charset="0"/>
                <a:cs typeface="Times New Roman" panose="02020603050405020304" pitchFamily="18" charset="0"/>
              </a:rPr>
              <a:t>Tracks</a:t>
            </a:r>
            <a:r>
              <a:rPr lang="en-US" sz="2500" i="0" dirty="0">
                <a:effectLst/>
                <a:latin typeface="Times New Roman" panose="02020603050405020304" pitchFamily="18" charset="0"/>
                <a:cs typeface="Times New Roman" panose="02020603050405020304" pitchFamily="18" charset="0"/>
              </a:rPr>
              <a:t> workout time(fitness and exercise tracking) Tracks how long a workout takes.</a:t>
            </a:r>
          </a:p>
          <a:p>
            <a:pPr marL="0" indent="0">
              <a:buNone/>
            </a:pPr>
            <a:r>
              <a:rPr lang="en-US" sz="2500" b="1" dirty="0">
                <a:solidFill>
                  <a:srgbClr val="FF0000"/>
                </a:solidFill>
                <a:latin typeface="Times New Roman" panose="02020603050405020304" pitchFamily="18" charset="0"/>
                <a:cs typeface="Times New Roman" panose="02020603050405020304" pitchFamily="18" charset="0"/>
              </a:rPr>
              <a:t>Program:</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import time</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def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workout_timer</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func</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def wrapper(*</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args</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kwargs</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start_time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time.time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result =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func</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args</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kwargs</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end_time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time.time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print(</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f"Workout</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duration: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end_time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 start_time:.2f} hour")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return result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return wrapper</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@workout_timer</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def exercise(</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exercise_name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duration):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print(</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f"Doing</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exercise_name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for {duration} hour...")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time.sleep</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(duration)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print(f"{</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exercise_name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completed!")</a:t>
            </a:r>
          </a:p>
          <a:p>
            <a:pPr marL="0" indent="0">
              <a:buNone/>
            </a:pP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exercise_name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 input("Enter exercise name: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duration = int(input("Enter duration (hour): "))</a:t>
            </a:r>
          </a:p>
          <a:p>
            <a:pPr marL="0" indent="0">
              <a:buNone/>
            </a:pP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exercise(</a:t>
            </a:r>
            <a:r>
              <a:rPr lang="en-US" sz="2500" dirty="0" err="1">
                <a:solidFill>
                  <a:schemeClr val="tx1">
                    <a:lumMod val="95000"/>
                    <a:lumOff val="5000"/>
                  </a:schemeClr>
                </a:solidFill>
                <a:latin typeface="Times New Roman" panose="02020603050405020304" pitchFamily="18" charset="0"/>
                <a:cs typeface="Times New Roman" panose="02020603050405020304" pitchFamily="18" charset="0"/>
              </a:rPr>
              <a:t>exercise_name</a:t>
            </a:r>
            <a:r>
              <a:rPr lang="en-US" sz="2500" dirty="0">
                <a:solidFill>
                  <a:schemeClr val="tx1">
                    <a:lumMod val="95000"/>
                    <a:lumOff val="5000"/>
                  </a:schemeClr>
                </a:solidFill>
                <a:latin typeface="Times New Roman" panose="02020603050405020304" pitchFamily="18" charset="0"/>
                <a:cs typeface="Times New Roman" panose="02020603050405020304" pitchFamily="18" charset="0"/>
              </a:rPr>
              <a:t>, duration)</a:t>
            </a:r>
          </a:p>
          <a:p>
            <a:pPr marL="0" indent="0">
              <a:buNone/>
            </a:pPr>
            <a:endParaRPr lang="en-US" sz="1800" b="1" i="0" dirty="0">
              <a:solidFill>
                <a:srgbClr val="FF0000"/>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535540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2FA208-322D-69BF-2B75-DE37AC4AC9E8}"/>
              </a:ext>
            </a:extLst>
          </p:cNvPr>
          <p:cNvSpPr>
            <a:spLocks noGrp="1"/>
          </p:cNvSpPr>
          <p:nvPr>
            <p:ph idx="1"/>
          </p:nvPr>
        </p:nvSpPr>
        <p:spPr>
          <a:xfrm>
            <a:off x="772886" y="1051184"/>
            <a:ext cx="10515600" cy="4351338"/>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Output:</a:t>
            </a:r>
          </a:p>
          <a:p>
            <a:pPr marL="0" indent="0">
              <a:buNone/>
            </a:pPr>
            <a:endParaRPr lang="en-IN" dirty="0"/>
          </a:p>
        </p:txBody>
      </p:sp>
      <p:pic>
        <p:nvPicPr>
          <p:cNvPr id="5" name="Picture 4">
            <a:extLst>
              <a:ext uri="{FF2B5EF4-FFF2-40B4-BE49-F238E27FC236}">
                <a16:creationId xmlns:a16="http://schemas.microsoft.com/office/drawing/2014/main" id="{1FD56152-C268-52B9-760E-B8833E62D47B}"/>
              </a:ext>
            </a:extLst>
          </p:cNvPr>
          <p:cNvPicPr>
            <a:picLocks noChangeAspect="1"/>
          </p:cNvPicPr>
          <p:nvPr/>
        </p:nvPicPr>
        <p:blipFill>
          <a:blip r:embed="rId2"/>
          <a:stretch>
            <a:fillRect/>
          </a:stretch>
        </p:blipFill>
        <p:spPr>
          <a:xfrm>
            <a:off x="679364" y="1690374"/>
            <a:ext cx="8649907" cy="304843"/>
          </a:xfrm>
          <a:prstGeom prst="rect">
            <a:avLst/>
          </a:prstGeom>
        </p:spPr>
      </p:pic>
      <p:pic>
        <p:nvPicPr>
          <p:cNvPr id="7" name="Picture 6">
            <a:extLst>
              <a:ext uri="{FF2B5EF4-FFF2-40B4-BE49-F238E27FC236}">
                <a16:creationId xmlns:a16="http://schemas.microsoft.com/office/drawing/2014/main" id="{542BA8A5-C8B0-9B79-ED6F-C095A467E272}"/>
              </a:ext>
            </a:extLst>
          </p:cNvPr>
          <p:cNvPicPr>
            <a:picLocks noChangeAspect="1"/>
          </p:cNvPicPr>
          <p:nvPr/>
        </p:nvPicPr>
        <p:blipFill>
          <a:blip r:embed="rId3"/>
          <a:stretch>
            <a:fillRect/>
          </a:stretch>
        </p:blipFill>
        <p:spPr>
          <a:xfrm>
            <a:off x="903514" y="2137114"/>
            <a:ext cx="7839270" cy="240072"/>
          </a:xfrm>
          <a:prstGeom prst="rect">
            <a:avLst/>
          </a:prstGeom>
        </p:spPr>
      </p:pic>
      <p:pic>
        <p:nvPicPr>
          <p:cNvPr id="9" name="Picture 8">
            <a:extLst>
              <a:ext uri="{FF2B5EF4-FFF2-40B4-BE49-F238E27FC236}">
                <a16:creationId xmlns:a16="http://schemas.microsoft.com/office/drawing/2014/main" id="{DA8D41E8-1701-43AB-1A01-C975FC2132C3}"/>
              </a:ext>
            </a:extLst>
          </p:cNvPr>
          <p:cNvPicPr>
            <a:picLocks noChangeAspect="1"/>
          </p:cNvPicPr>
          <p:nvPr/>
        </p:nvPicPr>
        <p:blipFill>
          <a:blip r:embed="rId4"/>
          <a:stretch>
            <a:fillRect/>
          </a:stretch>
        </p:blipFill>
        <p:spPr>
          <a:xfrm>
            <a:off x="772886" y="3208427"/>
            <a:ext cx="4201111" cy="925034"/>
          </a:xfrm>
          <a:prstGeom prst="rect">
            <a:avLst/>
          </a:prstGeom>
        </p:spPr>
      </p:pic>
    </p:spTree>
    <p:extLst>
      <p:ext uri="{BB962C8B-B14F-4D97-AF65-F5344CB8AC3E}">
        <p14:creationId xmlns:p14="http://schemas.microsoft.com/office/powerpoint/2010/main" val="1499927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B9387-53A0-09B4-957D-472FB9A365E2}"/>
              </a:ext>
            </a:extLst>
          </p:cNvPr>
          <p:cNvSpPr>
            <a:spLocks noGrp="1"/>
          </p:cNvSpPr>
          <p:nvPr>
            <p:ph type="title"/>
          </p:nvPr>
        </p:nvSpPr>
        <p:spPr>
          <a:xfrm>
            <a:off x="698241" y="85207"/>
            <a:ext cx="10515600" cy="1325563"/>
          </a:xfrm>
        </p:spPr>
        <p:txBody>
          <a:bodyPr>
            <a:normAutofit/>
          </a:bodyPr>
          <a:lstStyle/>
          <a:p>
            <a:r>
              <a:rPr lang="en-US" sz="3200" b="1" dirty="0">
                <a:solidFill>
                  <a:srgbClr val="00B050"/>
                </a:solidFill>
                <a:latin typeface="Times New Roman" panose="02020603050405020304" pitchFamily="18" charset="0"/>
                <a:cs typeface="Times New Roman" panose="02020603050405020304" pitchFamily="18" charset="0"/>
              </a:rPr>
              <a:t>4.Cooking Timer Decorator</a:t>
            </a:r>
            <a:endParaRPr lang="en-IN" sz="32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79BB530-1798-A4BC-2F64-827A62EEFAE8}"/>
              </a:ext>
            </a:extLst>
          </p:cNvPr>
          <p:cNvSpPr>
            <a:spLocks noGrp="1"/>
          </p:cNvSpPr>
          <p:nvPr>
            <p:ph idx="1"/>
          </p:nvPr>
        </p:nvSpPr>
        <p:spPr>
          <a:xfrm>
            <a:off x="838200" y="1132032"/>
            <a:ext cx="10515600" cy="5640761"/>
          </a:xfrm>
        </p:spPr>
        <p:txBody>
          <a:bodyPr>
            <a:normAutofit fontScale="92500" lnSpcReduction="10000"/>
          </a:bodyPr>
          <a:lstStyle/>
          <a:p>
            <a:pPr marL="0" indent="0">
              <a:buNone/>
            </a:pPr>
            <a:r>
              <a:rPr lang="en-US" sz="1400" b="1" i="0" u="sng" dirty="0" err="1">
                <a:effectLst/>
                <a:latin typeface="Times New Roman" panose="02020603050405020304" pitchFamily="18" charset="0"/>
                <a:cs typeface="Times New Roman" panose="02020603050405020304" pitchFamily="18" charset="0"/>
              </a:rPr>
              <a:t>cooking_timer</a:t>
            </a:r>
            <a:r>
              <a:rPr lang="en-US" sz="1400" b="1" u="sng" dirty="0">
                <a:latin typeface="Times New Roman" panose="02020603050405020304" pitchFamily="18" charset="0"/>
                <a:cs typeface="Times New Roman" panose="02020603050405020304" pitchFamily="18" charset="0"/>
              </a:rPr>
              <a:t>: </a:t>
            </a:r>
            <a:r>
              <a:rPr lang="en-US" sz="1400" i="0" dirty="0">
                <a:effectLst/>
                <a:latin typeface="Times New Roman" panose="02020603050405020304" pitchFamily="18" charset="0"/>
                <a:cs typeface="Times New Roman" panose="02020603050405020304" pitchFamily="18" charset="0"/>
              </a:rPr>
              <a:t>Measures cooking time(ensuring food is cooked properly).Helps you track cooking time for a dish.</a:t>
            </a:r>
          </a:p>
          <a:p>
            <a:pPr marL="0" indent="0">
              <a:buNone/>
            </a:pPr>
            <a:r>
              <a:rPr lang="en-US" sz="1400" b="1" dirty="0">
                <a:solidFill>
                  <a:srgbClr val="FF0000"/>
                </a:solidFill>
                <a:latin typeface="Times New Roman" panose="02020603050405020304" pitchFamily="18" charset="0"/>
                <a:cs typeface="Times New Roman" panose="02020603050405020304" pitchFamily="18" charset="0"/>
              </a:rPr>
              <a:t>Program:</a:t>
            </a:r>
          </a:p>
          <a:p>
            <a:pPr marL="0" indent="0">
              <a:buNone/>
            </a:pPr>
            <a:r>
              <a:rPr lang="en-US" sz="1400" i="0" dirty="0">
                <a:effectLst/>
                <a:latin typeface="Times New Roman" panose="02020603050405020304" pitchFamily="18" charset="0"/>
                <a:cs typeface="Times New Roman" panose="02020603050405020304" pitchFamily="18" charset="0"/>
              </a:rPr>
              <a:t>import time </a:t>
            </a:r>
          </a:p>
          <a:p>
            <a:pPr marL="0" indent="0">
              <a:buNone/>
            </a:pPr>
            <a:r>
              <a:rPr lang="en-US" sz="1400" i="0" dirty="0">
                <a:effectLst/>
                <a:latin typeface="Times New Roman" panose="02020603050405020304" pitchFamily="18" charset="0"/>
                <a:cs typeface="Times New Roman" panose="02020603050405020304" pitchFamily="18" charset="0"/>
              </a:rPr>
              <a:t>def </a:t>
            </a:r>
            <a:r>
              <a:rPr lang="en-US" sz="1400" i="0" dirty="0" err="1">
                <a:effectLst/>
                <a:latin typeface="Times New Roman" panose="02020603050405020304" pitchFamily="18" charset="0"/>
                <a:cs typeface="Times New Roman" panose="02020603050405020304" pitchFamily="18" charset="0"/>
              </a:rPr>
              <a:t>cooking_timer</a:t>
            </a:r>
            <a:r>
              <a:rPr lang="en-US" sz="1400" i="0" dirty="0">
                <a:effectLst/>
                <a:latin typeface="Times New Roman" panose="02020603050405020304" pitchFamily="18" charset="0"/>
                <a:cs typeface="Times New Roman" panose="02020603050405020304" pitchFamily="18" charset="0"/>
              </a:rPr>
              <a:t>(</a:t>
            </a:r>
            <a:r>
              <a:rPr lang="en-US" sz="1400" i="0" dirty="0" err="1">
                <a:effectLst/>
                <a:latin typeface="Times New Roman" panose="02020603050405020304" pitchFamily="18" charset="0"/>
                <a:cs typeface="Times New Roman" panose="02020603050405020304" pitchFamily="18" charset="0"/>
              </a:rPr>
              <a:t>func</a:t>
            </a:r>
            <a:r>
              <a:rPr lang="en-US" sz="1400" i="0" dirty="0">
                <a:effectLst/>
                <a:latin typeface="Times New Roman" panose="02020603050405020304" pitchFamily="18" charset="0"/>
                <a:cs typeface="Times New Roman" panose="02020603050405020304" pitchFamily="18" charset="0"/>
              </a:rPr>
              <a:t>):    </a:t>
            </a:r>
          </a:p>
          <a:p>
            <a:pPr marL="0" indent="0">
              <a:buNone/>
            </a:pPr>
            <a:r>
              <a:rPr lang="en-US" sz="1400" i="0" dirty="0">
                <a:effectLst/>
                <a:latin typeface="Times New Roman" panose="02020603050405020304" pitchFamily="18" charset="0"/>
                <a:cs typeface="Times New Roman" panose="02020603050405020304" pitchFamily="18" charset="0"/>
              </a:rPr>
              <a:t>      def wrapper(*</a:t>
            </a:r>
            <a:r>
              <a:rPr lang="en-US" sz="1400" i="0" dirty="0" err="1">
                <a:effectLst/>
                <a:latin typeface="Times New Roman" panose="02020603050405020304" pitchFamily="18" charset="0"/>
                <a:cs typeface="Times New Roman" panose="02020603050405020304" pitchFamily="18" charset="0"/>
              </a:rPr>
              <a:t>args</a:t>
            </a:r>
            <a:r>
              <a:rPr lang="en-US" sz="1400" i="0" dirty="0">
                <a:effectLst/>
                <a:latin typeface="Times New Roman" panose="02020603050405020304" pitchFamily="18" charset="0"/>
                <a:cs typeface="Times New Roman" panose="02020603050405020304" pitchFamily="18" charset="0"/>
              </a:rPr>
              <a:t>, **</a:t>
            </a:r>
            <a:r>
              <a:rPr lang="en-US" sz="1400" i="0" dirty="0" err="1">
                <a:effectLst/>
                <a:latin typeface="Times New Roman" panose="02020603050405020304" pitchFamily="18" charset="0"/>
                <a:cs typeface="Times New Roman" panose="02020603050405020304" pitchFamily="18" charset="0"/>
              </a:rPr>
              <a:t>kwargs</a:t>
            </a:r>
            <a:r>
              <a:rPr lang="en-US" sz="1400" i="0" dirty="0">
                <a:effectLst/>
                <a:latin typeface="Times New Roman" panose="02020603050405020304" pitchFamily="18" charset="0"/>
                <a:cs typeface="Times New Roman" panose="02020603050405020304" pitchFamily="18" charset="0"/>
              </a:rPr>
              <a:t>):       </a:t>
            </a:r>
          </a:p>
          <a:p>
            <a:pPr marL="0" indent="0">
              <a:buNone/>
            </a:pPr>
            <a:r>
              <a:rPr lang="en-US" sz="1400" i="0" dirty="0">
                <a:effectLst/>
                <a:latin typeface="Times New Roman" panose="02020603050405020304" pitchFamily="18" charset="0"/>
                <a:cs typeface="Times New Roman" panose="02020603050405020304" pitchFamily="18" charset="0"/>
              </a:rPr>
              <a:t>             start = </a:t>
            </a:r>
            <a:r>
              <a:rPr lang="en-US" sz="1400" i="0" dirty="0" err="1">
                <a:effectLst/>
                <a:latin typeface="Times New Roman" panose="02020603050405020304" pitchFamily="18" charset="0"/>
                <a:cs typeface="Times New Roman" panose="02020603050405020304" pitchFamily="18" charset="0"/>
              </a:rPr>
              <a:t>time.time</a:t>
            </a:r>
            <a:r>
              <a:rPr lang="en-US" sz="1400" i="0" dirty="0">
                <a:effectLst/>
                <a:latin typeface="Times New Roman" panose="02020603050405020304" pitchFamily="18" charset="0"/>
                <a:cs typeface="Times New Roman" panose="02020603050405020304" pitchFamily="18" charset="0"/>
              </a:rPr>
              <a:t>()       </a:t>
            </a:r>
          </a:p>
          <a:p>
            <a:pPr marL="0" indent="0">
              <a:buNone/>
            </a:pPr>
            <a:r>
              <a:rPr lang="en-US" sz="1400" i="0" dirty="0">
                <a:effectLst/>
                <a:latin typeface="Times New Roman" panose="02020603050405020304" pitchFamily="18" charset="0"/>
                <a:cs typeface="Times New Roman" panose="02020603050405020304" pitchFamily="18" charset="0"/>
              </a:rPr>
              <a:t>             result = </a:t>
            </a:r>
            <a:r>
              <a:rPr lang="en-US" sz="1400" i="0" dirty="0" err="1">
                <a:effectLst/>
                <a:latin typeface="Times New Roman" panose="02020603050405020304" pitchFamily="18" charset="0"/>
                <a:cs typeface="Times New Roman" panose="02020603050405020304" pitchFamily="18" charset="0"/>
              </a:rPr>
              <a:t>func</a:t>
            </a:r>
            <a:r>
              <a:rPr lang="en-US" sz="1400" i="0" dirty="0">
                <a:effectLst/>
                <a:latin typeface="Times New Roman" panose="02020603050405020304" pitchFamily="18" charset="0"/>
                <a:cs typeface="Times New Roman" panose="02020603050405020304" pitchFamily="18" charset="0"/>
              </a:rPr>
              <a:t>(*</a:t>
            </a:r>
            <a:r>
              <a:rPr lang="en-US" sz="1400" i="0" dirty="0" err="1">
                <a:effectLst/>
                <a:latin typeface="Times New Roman" panose="02020603050405020304" pitchFamily="18" charset="0"/>
                <a:cs typeface="Times New Roman" panose="02020603050405020304" pitchFamily="18" charset="0"/>
              </a:rPr>
              <a:t>args</a:t>
            </a:r>
            <a:r>
              <a:rPr lang="en-US" sz="1400" i="0" dirty="0">
                <a:effectLst/>
                <a:latin typeface="Times New Roman" panose="02020603050405020304" pitchFamily="18" charset="0"/>
                <a:cs typeface="Times New Roman" panose="02020603050405020304" pitchFamily="18" charset="0"/>
              </a:rPr>
              <a:t>, **</a:t>
            </a:r>
            <a:r>
              <a:rPr lang="en-US" sz="1400" i="0" dirty="0" err="1">
                <a:effectLst/>
                <a:latin typeface="Times New Roman" panose="02020603050405020304" pitchFamily="18" charset="0"/>
                <a:cs typeface="Times New Roman" panose="02020603050405020304" pitchFamily="18" charset="0"/>
              </a:rPr>
              <a:t>kwargs</a:t>
            </a:r>
            <a:r>
              <a:rPr lang="en-US" sz="1400" i="0" dirty="0">
                <a:effectLst/>
                <a:latin typeface="Times New Roman" panose="02020603050405020304" pitchFamily="18" charset="0"/>
                <a:cs typeface="Times New Roman" panose="02020603050405020304" pitchFamily="18" charset="0"/>
              </a:rPr>
              <a:t>)       </a:t>
            </a:r>
          </a:p>
          <a:p>
            <a:pPr marL="0" indent="0">
              <a:buNone/>
            </a:pPr>
            <a:r>
              <a:rPr lang="en-US" sz="1400" i="0" dirty="0">
                <a:effectLst/>
                <a:latin typeface="Times New Roman" panose="02020603050405020304" pitchFamily="18" charset="0"/>
                <a:cs typeface="Times New Roman" panose="02020603050405020304" pitchFamily="18" charset="0"/>
              </a:rPr>
              <a:t>             end = </a:t>
            </a:r>
            <a:r>
              <a:rPr lang="en-US" sz="1400" i="0" dirty="0" err="1">
                <a:effectLst/>
                <a:latin typeface="Times New Roman" panose="02020603050405020304" pitchFamily="18" charset="0"/>
                <a:cs typeface="Times New Roman" panose="02020603050405020304" pitchFamily="18" charset="0"/>
              </a:rPr>
              <a:t>time.time</a:t>
            </a:r>
            <a:r>
              <a:rPr lang="en-US" sz="1400" i="0" dirty="0">
                <a:effectLst/>
                <a:latin typeface="Times New Roman" panose="02020603050405020304" pitchFamily="18" charset="0"/>
                <a:cs typeface="Times New Roman" panose="02020603050405020304" pitchFamily="18" charset="0"/>
              </a:rPr>
              <a:t>()        </a:t>
            </a:r>
          </a:p>
          <a:p>
            <a:pPr marL="0" indent="0">
              <a:buNone/>
            </a:pPr>
            <a:r>
              <a:rPr lang="en-US" sz="1400" i="0" dirty="0">
                <a:effectLst/>
                <a:latin typeface="Times New Roman" panose="02020603050405020304" pitchFamily="18" charset="0"/>
                <a:cs typeface="Times New Roman" panose="02020603050405020304" pitchFamily="18" charset="0"/>
              </a:rPr>
              <a:t>             print(</a:t>
            </a:r>
            <a:r>
              <a:rPr lang="en-US" sz="1400" i="0" dirty="0" err="1">
                <a:effectLst/>
                <a:latin typeface="Times New Roman" panose="02020603050405020304" pitchFamily="18" charset="0"/>
                <a:cs typeface="Times New Roman" panose="02020603050405020304" pitchFamily="18" charset="0"/>
              </a:rPr>
              <a:t>f"Cooking</a:t>
            </a:r>
            <a:r>
              <a:rPr lang="en-US" sz="1400" i="0" dirty="0">
                <a:effectLst/>
                <a:latin typeface="Times New Roman" panose="02020603050405020304" pitchFamily="18" charset="0"/>
                <a:cs typeface="Times New Roman" panose="02020603050405020304" pitchFamily="18" charset="0"/>
              </a:rPr>
              <a:t> time: {end - start:.2f} hour")       </a:t>
            </a:r>
          </a:p>
          <a:p>
            <a:pPr marL="0" indent="0">
              <a:buNone/>
            </a:pPr>
            <a:r>
              <a:rPr lang="en-US" sz="1400" i="0" dirty="0">
                <a:effectLst/>
                <a:latin typeface="Times New Roman" panose="02020603050405020304" pitchFamily="18" charset="0"/>
                <a:cs typeface="Times New Roman" panose="02020603050405020304" pitchFamily="18" charset="0"/>
              </a:rPr>
              <a:t>             return result   </a:t>
            </a:r>
          </a:p>
          <a:p>
            <a:pPr marL="0" indent="0">
              <a:buNone/>
            </a:pPr>
            <a:r>
              <a:rPr lang="en-US" sz="1400" i="0" dirty="0">
                <a:effectLst/>
                <a:latin typeface="Times New Roman" panose="02020603050405020304" pitchFamily="18" charset="0"/>
                <a:cs typeface="Times New Roman" panose="02020603050405020304" pitchFamily="18" charset="0"/>
              </a:rPr>
              <a:t>       return wrapper</a:t>
            </a:r>
          </a:p>
          <a:p>
            <a:pPr marL="0" indent="0">
              <a:buNone/>
            </a:pPr>
            <a:r>
              <a:rPr lang="en-US" sz="1400" i="0" dirty="0">
                <a:effectLst/>
                <a:latin typeface="Times New Roman" panose="02020603050405020304" pitchFamily="18" charset="0"/>
                <a:cs typeface="Times New Roman" panose="02020603050405020304" pitchFamily="18" charset="0"/>
              </a:rPr>
              <a:t>@cooking_timer</a:t>
            </a:r>
          </a:p>
          <a:p>
            <a:pPr marL="0" indent="0">
              <a:buNone/>
            </a:pPr>
            <a:r>
              <a:rPr lang="en-US" sz="1400" i="0" dirty="0">
                <a:effectLst/>
                <a:latin typeface="Times New Roman" panose="02020603050405020304" pitchFamily="18" charset="0"/>
                <a:cs typeface="Times New Roman" panose="02020603050405020304" pitchFamily="18" charset="0"/>
              </a:rPr>
              <a:t>def </a:t>
            </a:r>
            <a:r>
              <a:rPr lang="en-US" sz="1400" i="0" dirty="0" err="1">
                <a:effectLst/>
                <a:latin typeface="Times New Roman" panose="02020603050405020304" pitchFamily="18" charset="0"/>
                <a:cs typeface="Times New Roman" panose="02020603050405020304" pitchFamily="18" charset="0"/>
              </a:rPr>
              <a:t>cook_dish</a:t>
            </a:r>
            <a:r>
              <a:rPr lang="en-US" sz="1400" i="0" dirty="0">
                <a:effectLst/>
                <a:latin typeface="Times New Roman" panose="02020603050405020304" pitchFamily="18" charset="0"/>
                <a:cs typeface="Times New Roman" panose="02020603050405020304" pitchFamily="18" charset="0"/>
              </a:rPr>
              <a:t>(</a:t>
            </a:r>
            <a:r>
              <a:rPr lang="en-US" sz="1400" i="0" dirty="0" err="1">
                <a:effectLst/>
                <a:latin typeface="Times New Roman" panose="02020603050405020304" pitchFamily="18" charset="0"/>
                <a:cs typeface="Times New Roman" panose="02020603050405020304" pitchFamily="18" charset="0"/>
              </a:rPr>
              <a:t>dish_name</a:t>
            </a:r>
            <a:r>
              <a:rPr lang="en-US" sz="1400" i="0" dirty="0">
                <a:effectLst/>
                <a:latin typeface="Times New Roman" panose="02020603050405020304" pitchFamily="18" charset="0"/>
                <a:cs typeface="Times New Roman" panose="02020603050405020304" pitchFamily="18" charset="0"/>
              </a:rPr>
              <a:t>, duration):    </a:t>
            </a:r>
          </a:p>
          <a:p>
            <a:pPr marL="0" indent="0">
              <a:buNone/>
            </a:pPr>
            <a:r>
              <a:rPr lang="en-US" sz="1400" i="0" dirty="0">
                <a:effectLst/>
                <a:latin typeface="Times New Roman" panose="02020603050405020304" pitchFamily="18" charset="0"/>
                <a:cs typeface="Times New Roman" panose="02020603050405020304" pitchFamily="18" charset="0"/>
              </a:rPr>
              <a:t>      print(</a:t>
            </a:r>
            <a:r>
              <a:rPr lang="en-US" sz="1400" i="0" dirty="0" err="1">
                <a:effectLst/>
                <a:latin typeface="Times New Roman" panose="02020603050405020304" pitchFamily="18" charset="0"/>
                <a:cs typeface="Times New Roman" panose="02020603050405020304" pitchFamily="18" charset="0"/>
              </a:rPr>
              <a:t>f"Cooking</a:t>
            </a:r>
            <a:r>
              <a:rPr lang="en-US" sz="1400" i="0" dirty="0">
                <a:effectLst/>
                <a:latin typeface="Times New Roman" panose="02020603050405020304" pitchFamily="18" charset="0"/>
                <a:cs typeface="Times New Roman" panose="02020603050405020304" pitchFamily="18" charset="0"/>
              </a:rPr>
              <a:t> {</a:t>
            </a:r>
            <a:r>
              <a:rPr lang="en-US" sz="1400" i="0" dirty="0" err="1">
                <a:effectLst/>
                <a:latin typeface="Times New Roman" panose="02020603050405020304" pitchFamily="18" charset="0"/>
                <a:cs typeface="Times New Roman" panose="02020603050405020304" pitchFamily="18" charset="0"/>
              </a:rPr>
              <a:t>dish_name</a:t>
            </a:r>
            <a:r>
              <a:rPr lang="en-US" sz="1400" i="0" dirty="0">
                <a:effectLst/>
                <a:latin typeface="Times New Roman" panose="02020603050405020304" pitchFamily="18" charset="0"/>
                <a:cs typeface="Times New Roman" panose="02020603050405020304" pitchFamily="18" charset="0"/>
              </a:rPr>
              <a:t>} for {duration} hour...")   </a:t>
            </a:r>
          </a:p>
          <a:p>
            <a:pPr marL="0" indent="0">
              <a:buNone/>
            </a:pPr>
            <a:r>
              <a:rPr lang="en-US" sz="1400" i="0" dirty="0">
                <a:effectLst/>
                <a:latin typeface="Times New Roman" panose="02020603050405020304" pitchFamily="18" charset="0"/>
                <a:cs typeface="Times New Roman" panose="02020603050405020304" pitchFamily="18" charset="0"/>
              </a:rPr>
              <a:t>      </a:t>
            </a:r>
            <a:r>
              <a:rPr lang="en-US" sz="1400" i="0" dirty="0" err="1">
                <a:effectLst/>
                <a:latin typeface="Times New Roman" panose="02020603050405020304" pitchFamily="18" charset="0"/>
                <a:cs typeface="Times New Roman" panose="02020603050405020304" pitchFamily="18" charset="0"/>
              </a:rPr>
              <a:t>time.sleep</a:t>
            </a:r>
            <a:r>
              <a:rPr lang="en-US" sz="1400" i="0" dirty="0">
                <a:effectLst/>
                <a:latin typeface="Times New Roman" panose="02020603050405020304" pitchFamily="18" charset="0"/>
                <a:cs typeface="Times New Roman" panose="02020603050405020304" pitchFamily="18" charset="0"/>
              </a:rPr>
              <a:t>(duration)    </a:t>
            </a:r>
          </a:p>
          <a:p>
            <a:pPr marL="0" indent="0">
              <a:buNone/>
            </a:pPr>
            <a:r>
              <a:rPr lang="en-US" sz="1400" i="0" dirty="0">
                <a:effectLst/>
                <a:latin typeface="Times New Roman" panose="02020603050405020304" pitchFamily="18" charset="0"/>
                <a:cs typeface="Times New Roman" panose="02020603050405020304" pitchFamily="18" charset="0"/>
              </a:rPr>
              <a:t>      print(f"{</a:t>
            </a:r>
            <a:r>
              <a:rPr lang="en-US" sz="1400" i="0" dirty="0" err="1">
                <a:effectLst/>
                <a:latin typeface="Times New Roman" panose="02020603050405020304" pitchFamily="18" charset="0"/>
                <a:cs typeface="Times New Roman" panose="02020603050405020304" pitchFamily="18" charset="0"/>
              </a:rPr>
              <a:t>dish_name</a:t>
            </a:r>
            <a:r>
              <a:rPr lang="en-US" sz="1400" i="0" dirty="0">
                <a:effectLst/>
                <a:latin typeface="Times New Roman" panose="02020603050405020304" pitchFamily="18" charset="0"/>
                <a:cs typeface="Times New Roman" panose="02020603050405020304" pitchFamily="18" charset="0"/>
              </a:rPr>
              <a:t>} is ready!")</a:t>
            </a:r>
          </a:p>
          <a:p>
            <a:pPr marL="0" indent="0">
              <a:buNone/>
            </a:pPr>
            <a:r>
              <a:rPr lang="en-US" sz="1400" i="0" dirty="0" err="1">
                <a:effectLst/>
                <a:latin typeface="Times New Roman" panose="02020603050405020304" pitchFamily="18" charset="0"/>
                <a:cs typeface="Times New Roman" panose="02020603050405020304" pitchFamily="18" charset="0"/>
              </a:rPr>
              <a:t>dish_name</a:t>
            </a:r>
            <a:r>
              <a:rPr lang="en-US" sz="1400" i="0" dirty="0">
                <a:effectLst/>
                <a:latin typeface="Times New Roman" panose="02020603050405020304" pitchFamily="18" charset="0"/>
                <a:cs typeface="Times New Roman" panose="02020603050405020304" pitchFamily="18" charset="0"/>
              </a:rPr>
              <a:t> = input("Enter dish name: ")</a:t>
            </a:r>
          </a:p>
          <a:p>
            <a:pPr marL="0" indent="0">
              <a:buNone/>
            </a:pPr>
            <a:r>
              <a:rPr lang="en-US" sz="1400" i="0" dirty="0">
                <a:effectLst/>
                <a:latin typeface="Times New Roman" panose="02020603050405020304" pitchFamily="18" charset="0"/>
                <a:cs typeface="Times New Roman" panose="02020603050405020304" pitchFamily="18" charset="0"/>
              </a:rPr>
              <a:t>duration = int(input("Enter cooking time (hour): "))</a:t>
            </a:r>
          </a:p>
          <a:p>
            <a:pPr marL="0" indent="0">
              <a:buNone/>
            </a:pPr>
            <a:r>
              <a:rPr lang="en-US" sz="1400" i="0" dirty="0" err="1">
                <a:effectLst/>
                <a:latin typeface="Times New Roman" panose="02020603050405020304" pitchFamily="18" charset="0"/>
                <a:cs typeface="Times New Roman" panose="02020603050405020304" pitchFamily="18" charset="0"/>
              </a:rPr>
              <a:t>cook_dish</a:t>
            </a:r>
            <a:r>
              <a:rPr lang="en-US" sz="1400" i="0" dirty="0">
                <a:effectLst/>
                <a:latin typeface="Times New Roman" panose="02020603050405020304" pitchFamily="18" charset="0"/>
                <a:cs typeface="Times New Roman" panose="02020603050405020304" pitchFamily="18" charset="0"/>
              </a:rPr>
              <a:t>(</a:t>
            </a:r>
            <a:r>
              <a:rPr lang="en-US" sz="1400" i="0" dirty="0" err="1">
                <a:effectLst/>
                <a:latin typeface="Times New Roman" panose="02020603050405020304" pitchFamily="18" charset="0"/>
                <a:cs typeface="Times New Roman" panose="02020603050405020304" pitchFamily="18" charset="0"/>
              </a:rPr>
              <a:t>dish_name</a:t>
            </a:r>
            <a:r>
              <a:rPr lang="en-US" sz="1400" i="0" dirty="0">
                <a:effectLst/>
                <a:latin typeface="Times New Roman" panose="02020603050405020304" pitchFamily="18" charset="0"/>
                <a:cs typeface="Times New Roman" panose="02020603050405020304" pitchFamily="18" charset="0"/>
              </a:rPr>
              <a:t>, duration)</a:t>
            </a:r>
          </a:p>
          <a:p>
            <a:pPr marL="0" indent="0">
              <a:buNone/>
            </a:pPr>
            <a:endParaRPr lang="en-IN" dirty="0"/>
          </a:p>
        </p:txBody>
      </p:sp>
    </p:spTree>
    <p:extLst>
      <p:ext uri="{BB962C8B-B14F-4D97-AF65-F5344CB8AC3E}">
        <p14:creationId xmlns:p14="http://schemas.microsoft.com/office/powerpoint/2010/main" val="2626567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9FB456-CA41-8EE1-7FE8-7FA2AC3FD924}"/>
              </a:ext>
            </a:extLst>
          </p:cNvPr>
          <p:cNvSpPr>
            <a:spLocks noGrp="1"/>
          </p:cNvSpPr>
          <p:nvPr>
            <p:ph idx="1"/>
          </p:nvPr>
        </p:nvSpPr>
        <p:spPr>
          <a:xfrm>
            <a:off x="978160" y="985869"/>
            <a:ext cx="10515600" cy="4425885"/>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Output:</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7D6C20D-320B-2F0D-3E25-3E797655E6AE}"/>
              </a:ext>
            </a:extLst>
          </p:cNvPr>
          <p:cNvPicPr>
            <a:picLocks noChangeAspect="1"/>
          </p:cNvPicPr>
          <p:nvPr/>
        </p:nvPicPr>
        <p:blipFill>
          <a:blip r:embed="rId2"/>
          <a:stretch>
            <a:fillRect/>
          </a:stretch>
        </p:blipFill>
        <p:spPr>
          <a:xfrm>
            <a:off x="851751" y="1586760"/>
            <a:ext cx="7763958" cy="400106"/>
          </a:xfrm>
          <a:prstGeom prst="rect">
            <a:avLst/>
          </a:prstGeom>
        </p:spPr>
      </p:pic>
      <p:pic>
        <p:nvPicPr>
          <p:cNvPr id="7" name="Picture 6">
            <a:extLst>
              <a:ext uri="{FF2B5EF4-FFF2-40B4-BE49-F238E27FC236}">
                <a16:creationId xmlns:a16="http://schemas.microsoft.com/office/drawing/2014/main" id="{D1758BD4-B2E3-6413-6D31-DAD793958039}"/>
              </a:ext>
            </a:extLst>
          </p:cNvPr>
          <p:cNvPicPr>
            <a:picLocks noChangeAspect="1"/>
          </p:cNvPicPr>
          <p:nvPr/>
        </p:nvPicPr>
        <p:blipFill>
          <a:blip r:embed="rId3"/>
          <a:stretch>
            <a:fillRect/>
          </a:stretch>
        </p:blipFill>
        <p:spPr>
          <a:xfrm>
            <a:off x="978160" y="2063546"/>
            <a:ext cx="7763958" cy="259375"/>
          </a:xfrm>
          <a:prstGeom prst="rect">
            <a:avLst/>
          </a:prstGeom>
        </p:spPr>
      </p:pic>
      <p:pic>
        <p:nvPicPr>
          <p:cNvPr id="9" name="Picture 8">
            <a:extLst>
              <a:ext uri="{FF2B5EF4-FFF2-40B4-BE49-F238E27FC236}">
                <a16:creationId xmlns:a16="http://schemas.microsoft.com/office/drawing/2014/main" id="{0821DEC1-E6B0-6A72-2038-18C481E2B229}"/>
              </a:ext>
            </a:extLst>
          </p:cNvPr>
          <p:cNvPicPr>
            <a:picLocks noChangeAspect="1"/>
          </p:cNvPicPr>
          <p:nvPr/>
        </p:nvPicPr>
        <p:blipFill>
          <a:blip r:embed="rId4"/>
          <a:stretch>
            <a:fillRect/>
          </a:stretch>
        </p:blipFill>
        <p:spPr>
          <a:xfrm>
            <a:off x="1084946" y="3231203"/>
            <a:ext cx="4591691" cy="827613"/>
          </a:xfrm>
          <a:prstGeom prst="rect">
            <a:avLst/>
          </a:prstGeom>
        </p:spPr>
      </p:pic>
    </p:spTree>
    <p:extLst>
      <p:ext uri="{BB962C8B-B14F-4D97-AF65-F5344CB8AC3E}">
        <p14:creationId xmlns:p14="http://schemas.microsoft.com/office/powerpoint/2010/main" val="4463965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21A19-703B-6019-E49B-6F499C57B840}"/>
              </a:ext>
            </a:extLst>
          </p:cNvPr>
          <p:cNvSpPr>
            <a:spLocks noGrp="1"/>
          </p:cNvSpPr>
          <p:nvPr>
            <p:ph type="title"/>
          </p:nvPr>
        </p:nvSpPr>
        <p:spPr>
          <a:xfrm>
            <a:off x="661736" y="18255"/>
            <a:ext cx="10515600" cy="1325563"/>
          </a:xfrm>
        </p:spPr>
        <p:txBody>
          <a:bodyPr>
            <a:normAutofit/>
          </a:bodyPr>
          <a:lstStyle/>
          <a:p>
            <a:r>
              <a:rPr lang="en-IN" sz="3600" b="1" dirty="0">
                <a:solidFill>
                  <a:srgbClr val="00B050"/>
                </a:solidFill>
                <a:latin typeface="Times New Roman" panose="02020603050405020304" pitchFamily="18" charset="0"/>
                <a:cs typeface="Times New Roman" panose="02020603050405020304" pitchFamily="18" charset="0"/>
              </a:rPr>
              <a:t>5.Groceries reminder Decorator</a:t>
            </a:r>
          </a:p>
        </p:txBody>
      </p:sp>
      <p:sp>
        <p:nvSpPr>
          <p:cNvPr id="3" name="Content Placeholder 2">
            <a:extLst>
              <a:ext uri="{FF2B5EF4-FFF2-40B4-BE49-F238E27FC236}">
                <a16:creationId xmlns:a16="http://schemas.microsoft.com/office/drawing/2014/main" id="{875DB6D4-6197-F743-53AA-4273F0E99399}"/>
              </a:ext>
            </a:extLst>
          </p:cNvPr>
          <p:cNvSpPr>
            <a:spLocks noGrp="1"/>
          </p:cNvSpPr>
          <p:nvPr>
            <p:ph idx="1"/>
          </p:nvPr>
        </p:nvSpPr>
        <p:spPr>
          <a:xfrm>
            <a:off x="838200" y="1135814"/>
            <a:ext cx="10515600" cy="4351338"/>
          </a:xfrm>
        </p:spPr>
        <p:txBody>
          <a:bodyPr>
            <a:normAutofit lnSpcReduction="10000"/>
          </a:bodyPr>
          <a:lstStyle/>
          <a:p>
            <a:pPr marL="0" indent="0">
              <a:buNone/>
            </a:pPr>
            <a:r>
              <a:rPr lang="en-US" sz="1600" b="1" i="0" u="sng" dirty="0" err="1">
                <a:effectLst/>
                <a:latin typeface="Times New Roman" panose="02020603050405020304" pitchFamily="18" charset="0"/>
                <a:cs typeface="Times New Roman" panose="02020603050405020304" pitchFamily="18" charset="0"/>
              </a:rPr>
              <a:t>groceries_remainder</a:t>
            </a:r>
            <a:r>
              <a:rPr lang="en-US" sz="1600" b="1" u="sng" dirty="0" err="1">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Prevents</a:t>
            </a:r>
            <a:r>
              <a:rPr lang="en-US" sz="1600" dirty="0">
                <a:latin typeface="Times New Roman" panose="02020603050405020304" pitchFamily="18" charset="0"/>
                <a:cs typeface="Times New Roman" panose="02020603050405020304" pitchFamily="18" charset="0"/>
              </a:rPr>
              <a:t> forgetting items(groceries checklist). Ensures you check your groceries list before leaving.</a:t>
            </a:r>
          </a:p>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a:t>
            </a:r>
          </a:p>
          <a:p>
            <a:pPr marL="0" indent="0">
              <a:buNone/>
            </a:pPr>
            <a:r>
              <a:rPr lang="en-IN" sz="1600" dirty="0">
                <a:latin typeface="Times New Roman" panose="02020603050405020304" pitchFamily="18" charset="0"/>
                <a:cs typeface="Times New Roman" panose="02020603050405020304" pitchFamily="18" charset="0"/>
              </a:rPr>
              <a:t>def </a:t>
            </a:r>
            <a:r>
              <a:rPr lang="en-IN" sz="1600" dirty="0" err="1">
                <a:latin typeface="Times New Roman" panose="02020603050405020304" pitchFamily="18" charset="0"/>
                <a:cs typeface="Times New Roman" panose="02020603050405020304" pitchFamily="18" charset="0"/>
              </a:rPr>
              <a:t>grocery_reminder</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func</a:t>
            </a:r>
            <a:r>
              <a:rPr lang="en-IN" sz="1600" dirty="0">
                <a:latin typeface="Times New Roman" panose="02020603050405020304" pitchFamily="18" charset="0"/>
                <a:cs typeface="Times New Roman" panose="02020603050405020304" pitchFamily="18" charset="0"/>
              </a:rPr>
              <a:t>):   </a:t>
            </a:r>
          </a:p>
          <a:p>
            <a:pPr marL="0" indent="0">
              <a:buNone/>
            </a:pPr>
            <a:r>
              <a:rPr lang="en-IN" sz="1600" dirty="0">
                <a:latin typeface="Times New Roman" panose="02020603050405020304" pitchFamily="18" charset="0"/>
                <a:cs typeface="Times New Roman" panose="02020603050405020304" pitchFamily="18" charset="0"/>
              </a:rPr>
              <a:t>      def wrapper(*</a:t>
            </a:r>
            <a:r>
              <a:rPr lang="en-IN" sz="1600" dirty="0" err="1">
                <a:latin typeface="Times New Roman" panose="02020603050405020304" pitchFamily="18" charset="0"/>
                <a:cs typeface="Times New Roman" panose="02020603050405020304" pitchFamily="18" charset="0"/>
              </a:rPr>
              <a:t>args</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kwargs</a:t>
            </a:r>
            <a:r>
              <a:rPr lang="en-IN" sz="1600" dirty="0">
                <a:latin typeface="Times New Roman" panose="02020603050405020304" pitchFamily="18" charset="0"/>
                <a:cs typeface="Times New Roman" panose="02020603050405020304" pitchFamily="18" charset="0"/>
              </a:rPr>
              <a:t>):        </a:t>
            </a:r>
          </a:p>
          <a:p>
            <a:pPr marL="0" indent="0">
              <a:buNone/>
            </a:pPr>
            <a:r>
              <a:rPr lang="en-IN" sz="1600" dirty="0">
                <a:latin typeface="Times New Roman" panose="02020603050405020304" pitchFamily="18" charset="0"/>
                <a:cs typeface="Times New Roman" panose="02020603050405020304" pitchFamily="18" charset="0"/>
              </a:rPr>
              <a:t>             print("Reminder: Check your </a:t>
            </a:r>
            <a:r>
              <a:rPr lang="en-IN" sz="1600" dirty="0" err="1">
                <a:latin typeface="Times New Roman" panose="02020603050405020304" pitchFamily="18" charset="0"/>
                <a:cs typeface="Times New Roman" panose="02020603050405020304" pitchFamily="18" charset="0"/>
              </a:rPr>
              <a:t>grocries</a:t>
            </a:r>
            <a:r>
              <a:rPr lang="en-IN" sz="1600" dirty="0">
                <a:latin typeface="Times New Roman" panose="02020603050405020304" pitchFamily="18" charset="0"/>
                <a:cs typeface="Times New Roman" panose="02020603050405020304" pitchFamily="18" charset="0"/>
              </a:rPr>
              <a:t> list before leaving!")    </a:t>
            </a:r>
          </a:p>
          <a:p>
            <a:pPr marL="0" indent="0">
              <a:buNone/>
            </a:pPr>
            <a:r>
              <a:rPr lang="en-IN" sz="1600" dirty="0">
                <a:latin typeface="Times New Roman" panose="02020603050405020304" pitchFamily="18" charset="0"/>
                <a:cs typeface="Times New Roman" panose="02020603050405020304" pitchFamily="18" charset="0"/>
              </a:rPr>
              <a:t>             return </a:t>
            </a:r>
            <a:r>
              <a:rPr lang="en-IN" sz="1600" dirty="0" err="1">
                <a:latin typeface="Times New Roman" panose="02020603050405020304" pitchFamily="18" charset="0"/>
                <a:cs typeface="Times New Roman" panose="02020603050405020304" pitchFamily="18" charset="0"/>
              </a:rPr>
              <a:t>func</a:t>
            </a:r>
            <a:r>
              <a:rPr lang="en-IN" sz="1600" dirty="0">
                <a:latin typeface="Times New Roman" panose="02020603050405020304" pitchFamily="18" charset="0"/>
                <a:cs typeface="Times New Roman" panose="02020603050405020304" pitchFamily="18" charset="0"/>
              </a:rPr>
              <a:t>(*</a:t>
            </a:r>
            <a:r>
              <a:rPr lang="en-IN" sz="1600" dirty="0" err="1">
                <a:latin typeface="Times New Roman" panose="02020603050405020304" pitchFamily="18" charset="0"/>
                <a:cs typeface="Times New Roman" panose="02020603050405020304" pitchFamily="18" charset="0"/>
              </a:rPr>
              <a:t>args</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kwargs</a:t>
            </a:r>
            <a:r>
              <a:rPr lang="en-IN" sz="1600" dirty="0">
                <a:latin typeface="Times New Roman" panose="02020603050405020304" pitchFamily="18" charset="0"/>
                <a:cs typeface="Times New Roman" panose="02020603050405020304" pitchFamily="18" charset="0"/>
              </a:rPr>
              <a:t>) </a:t>
            </a:r>
          </a:p>
          <a:p>
            <a:pPr marL="0" indent="0">
              <a:buNone/>
            </a:pPr>
            <a:r>
              <a:rPr lang="en-IN" sz="1600" dirty="0">
                <a:latin typeface="Times New Roman" panose="02020603050405020304" pitchFamily="18" charset="0"/>
                <a:cs typeface="Times New Roman" panose="02020603050405020304" pitchFamily="18" charset="0"/>
              </a:rPr>
              <a:t>      return wrapper</a:t>
            </a:r>
          </a:p>
          <a:p>
            <a:pPr marL="0" indent="0">
              <a:buNone/>
            </a:pPr>
            <a:r>
              <a:rPr lang="en-IN" sz="1600" dirty="0">
                <a:latin typeface="Times New Roman" panose="02020603050405020304" pitchFamily="18" charset="0"/>
                <a:cs typeface="Times New Roman" panose="02020603050405020304" pitchFamily="18" charset="0"/>
              </a:rPr>
              <a:t>@grocery_reminder</a:t>
            </a:r>
          </a:p>
          <a:p>
            <a:pPr marL="0" indent="0">
              <a:buNone/>
            </a:pPr>
            <a:r>
              <a:rPr lang="en-IN" sz="1600" dirty="0">
                <a:latin typeface="Times New Roman" panose="02020603050405020304" pitchFamily="18" charset="0"/>
                <a:cs typeface="Times New Roman" panose="02020603050405020304" pitchFamily="18" charset="0"/>
              </a:rPr>
              <a:t>def </a:t>
            </a:r>
            <a:r>
              <a:rPr lang="en-IN" sz="1600" dirty="0" err="1">
                <a:latin typeface="Times New Roman" panose="02020603050405020304" pitchFamily="18" charset="0"/>
                <a:cs typeface="Times New Roman" panose="02020603050405020304" pitchFamily="18" charset="0"/>
              </a:rPr>
              <a:t>grocery_list</a:t>
            </a:r>
            <a:r>
              <a:rPr lang="en-IN" sz="1600" dirty="0">
                <a:latin typeface="Times New Roman" panose="02020603050405020304" pitchFamily="18" charset="0"/>
                <a:cs typeface="Times New Roman" panose="02020603050405020304" pitchFamily="18" charset="0"/>
              </a:rPr>
              <a:t>(items): </a:t>
            </a:r>
          </a:p>
          <a:p>
            <a:pPr marL="0" indent="0">
              <a:buNone/>
            </a:pPr>
            <a:r>
              <a:rPr lang="en-IN" sz="1600" dirty="0">
                <a:latin typeface="Times New Roman" panose="02020603050405020304" pitchFamily="18" charset="0"/>
                <a:cs typeface="Times New Roman" panose="02020603050405020304" pitchFamily="18" charset="0"/>
              </a:rPr>
              <a:t>       print("Groceries list:", ", ".join(items))   </a:t>
            </a:r>
          </a:p>
          <a:p>
            <a:pPr marL="0" indent="0">
              <a:buNone/>
            </a:pPr>
            <a:r>
              <a:rPr lang="en-IN" sz="1600" dirty="0">
                <a:latin typeface="Times New Roman" panose="02020603050405020304" pitchFamily="18" charset="0"/>
                <a:cs typeface="Times New Roman" panose="02020603050405020304" pitchFamily="18" charset="0"/>
              </a:rPr>
              <a:t>       print("Thank you visit again....")</a:t>
            </a:r>
          </a:p>
          <a:p>
            <a:pPr marL="0" indent="0">
              <a:buNone/>
            </a:pPr>
            <a:r>
              <a:rPr lang="en-IN" sz="1600" dirty="0">
                <a:latin typeface="Times New Roman" panose="02020603050405020304" pitchFamily="18" charset="0"/>
                <a:cs typeface="Times New Roman" panose="02020603050405020304" pitchFamily="18" charset="0"/>
              </a:rPr>
              <a:t>items = input("Enter grocery items (comma-separated): ").split(",")</a:t>
            </a:r>
          </a:p>
          <a:p>
            <a:pPr marL="0" indent="0">
              <a:buNone/>
            </a:pPr>
            <a:r>
              <a:rPr lang="en-IN" sz="1600" dirty="0" err="1">
                <a:latin typeface="Times New Roman" panose="02020603050405020304" pitchFamily="18" charset="0"/>
                <a:cs typeface="Times New Roman" panose="02020603050405020304" pitchFamily="18" charset="0"/>
              </a:rPr>
              <a:t>grocery_list</a:t>
            </a:r>
            <a:r>
              <a:rPr lang="en-IN" sz="1600" dirty="0">
                <a:latin typeface="Times New Roman" panose="02020603050405020304" pitchFamily="18" charset="0"/>
                <a:cs typeface="Times New Roman" panose="02020603050405020304" pitchFamily="18" charset="0"/>
              </a:rPr>
              <a:t>(items)</a:t>
            </a:r>
          </a:p>
        </p:txBody>
      </p:sp>
    </p:spTree>
    <p:extLst>
      <p:ext uri="{BB962C8B-B14F-4D97-AF65-F5344CB8AC3E}">
        <p14:creationId xmlns:p14="http://schemas.microsoft.com/office/powerpoint/2010/main" val="11933442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BB70850-C38F-148D-60FD-3A956222E38D}"/>
              </a:ext>
            </a:extLst>
          </p:cNvPr>
          <p:cNvSpPr>
            <a:spLocks noGrp="1"/>
          </p:cNvSpPr>
          <p:nvPr>
            <p:ph idx="1"/>
          </p:nvPr>
        </p:nvSpPr>
        <p:spPr>
          <a:xfrm>
            <a:off x="922176" y="1051184"/>
            <a:ext cx="10515600" cy="4351338"/>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dirty="0"/>
          </a:p>
          <a:p>
            <a:pPr marL="0" indent="0">
              <a:buNone/>
            </a:pPr>
            <a:r>
              <a:rPr lang="en-US" b="1" dirty="0">
                <a:solidFill>
                  <a:srgbClr val="FF0000"/>
                </a:solidFill>
                <a:latin typeface="Times New Roman" panose="02020603050405020304" pitchFamily="18" charset="0"/>
                <a:cs typeface="Times New Roman" panose="02020603050405020304" pitchFamily="18" charset="0"/>
              </a:rPr>
              <a:t>Output:</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3A43627-D7AC-F0AB-2553-AEE22DC4426D}"/>
              </a:ext>
            </a:extLst>
          </p:cNvPr>
          <p:cNvPicPr>
            <a:picLocks noChangeAspect="1"/>
          </p:cNvPicPr>
          <p:nvPr/>
        </p:nvPicPr>
        <p:blipFill>
          <a:blip r:embed="rId2"/>
          <a:stretch>
            <a:fillRect/>
          </a:stretch>
        </p:blipFill>
        <p:spPr>
          <a:xfrm>
            <a:off x="922176" y="1624667"/>
            <a:ext cx="9288171" cy="493381"/>
          </a:xfrm>
          <a:prstGeom prst="rect">
            <a:avLst/>
          </a:prstGeom>
        </p:spPr>
      </p:pic>
      <p:pic>
        <p:nvPicPr>
          <p:cNvPr id="7" name="Picture 6">
            <a:extLst>
              <a:ext uri="{FF2B5EF4-FFF2-40B4-BE49-F238E27FC236}">
                <a16:creationId xmlns:a16="http://schemas.microsoft.com/office/drawing/2014/main" id="{CF9F6D5C-BB4A-84DE-012E-F53172C2A19D}"/>
              </a:ext>
            </a:extLst>
          </p:cNvPr>
          <p:cNvPicPr>
            <a:picLocks noChangeAspect="1"/>
          </p:cNvPicPr>
          <p:nvPr/>
        </p:nvPicPr>
        <p:blipFill>
          <a:blip r:embed="rId3"/>
          <a:stretch>
            <a:fillRect/>
          </a:stretch>
        </p:blipFill>
        <p:spPr>
          <a:xfrm>
            <a:off x="922176" y="2607642"/>
            <a:ext cx="4867954" cy="821358"/>
          </a:xfrm>
          <a:prstGeom prst="rect">
            <a:avLst/>
          </a:prstGeom>
        </p:spPr>
      </p:pic>
    </p:spTree>
    <p:extLst>
      <p:ext uri="{BB962C8B-B14F-4D97-AF65-F5344CB8AC3E}">
        <p14:creationId xmlns:p14="http://schemas.microsoft.com/office/powerpoint/2010/main" val="6117684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A6587-6EAB-810E-9D6E-8B628B6819E4}"/>
              </a:ext>
            </a:extLst>
          </p:cNvPr>
          <p:cNvSpPr>
            <a:spLocks noGrp="1"/>
          </p:cNvSpPr>
          <p:nvPr>
            <p:ph type="title"/>
          </p:nvPr>
        </p:nvSpPr>
        <p:spPr>
          <a:xfrm>
            <a:off x="688910" y="18255"/>
            <a:ext cx="10515600" cy="1325563"/>
          </a:xfrm>
        </p:spPr>
        <p:txBody>
          <a:bodyPr>
            <a:normAutofit/>
          </a:bodyPr>
          <a:lstStyle/>
          <a:p>
            <a:r>
              <a:rPr lang="en-US" sz="3600" b="1" dirty="0">
                <a:solidFill>
                  <a:srgbClr val="00B050"/>
                </a:solidFill>
                <a:latin typeface="Times New Roman" panose="02020603050405020304" pitchFamily="18" charset="0"/>
                <a:cs typeface="Times New Roman" panose="02020603050405020304" pitchFamily="18" charset="0"/>
              </a:rPr>
              <a:t>6.Sleep Tracker Decorator</a:t>
            </a:r>
            <a:endParaRPr lang="en-IN" sz="36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4CB19D8-3B80-0F92-4782-95375CA4465E}"/>
              </a:ext>
            </a:extLst>
          </p:cNvPr>
          <p:cNvSpPr>
            <a:spLocks noGrp="1"/>
          </p:cNvSpPr>
          <p:nvPr>
            <p:ph idx="1"/>
          </p:nvPr>
        </p:nvSpPr>
        <p:spPr>
          <a:xfrm>
            <a:off x="838200" y="1253331"/>
            <a:ext cx="10515600" cy="5044832"/>
          </a:xfrm>
        </p:spPr>
        <p:txBody>
          <a:bodyPr>
            <a:normAutofit fontScale="92500" lnSpcReduction="10000"/>
          </a:bodyPr>
          <a:lstStyle/>
          <a:p>
            <a:pPr marL="0" indent="0">
              <a:buNone/>
            </a:pPr>
            <a:r>
              <a:rPr lang="en-US" sz="1600" b="1" i="0" u="sng" dirty="0" err="1">
                <a:effectLst/>
                <a:latin typeface="Times New Roman" panose="02020603050405020304" pitchFamily="18" charset="0"/>
                <a:cs typeface="Times New Roman" panose="02020603050405020304" pitchFamily="18" charset="0"/>
              </a:rPr>
              <a:t>sleep_tracker</a:t>
            </a:r>
            <a:r>
              <a:rPr lang="en-US" sz="1600" b="1" u="sng"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M</a:t>
            </a:r>
            <a:r>
              <a:rPr lang="en-US" sz="1600" i="0" dirty="0">
                <a:effectLst/>
                <a:latin typeface="Times New Roman" panose="02020603050405020304" pitchFamily="18" charset="0"/>
                <a:cs typeface="Times New Roman" panose="02020603050405020304" pitchFamily="18" charset="0"/>
              </a:rPr>
              <a:t>easures sleep time(ensuring proper rest).Tracks and logs sleep time.</a:t>
            </a:r>
          </a:p>
          <a:p>
            <a:pPr marL="0" indent="0">
              <a:buNone/>
            </a:pPr>
            <a:r>
              <a:rPr lang="en-US" sz="1600" dirty="0">
                <a:latin typeface="Times New Roman" panose="02020603050405020304" pitchFamily="18" charset="0"/>
                <a:cs typeface="Times New Roman" panose="02020603050405020304" pitchFamily="18" charset="0"/>
              </a:rPr>
              <a:t>Program:</a:t>
            </a:r>
          </a:p>
          <a:p>
            <a:pPr marL="0" indent="0">
              <a:buNone/>
            </a:pPr>
            <a:r>
              <a:rPr lang="en-US" sz="1600" i="0" dirty="0">
                <a:effectLst/>
                <a:latin typeface="Times New Roman" panose="02020603050405020304" pitchFamily="18" charset="0"/>
                <a:cs typeface="Times New Roman" panose="02020603050405020304" pitchFamily="18" charset="0"/>
              </a:rPr>
              <a:t>import time</a:t>
            </a:r>
          </a:p>
          <a:p>
            <a:pPr marL="0" indent="0">
              <a:buNone/>
            </a:pPr>
            <a:r>
              <a:rPr lang="en-US" sz="1600" i="0" dirty="0">
                <a:effectLst/>
                <a:latin typeface="Times New Roman" panose="02020603050405020304" pitchFamily="18" charset="0"/>
                <a:cs typeface="Times New Roman" panose="02020603050405020304" pitchFamily="18" charset="0"/>
              </a:rPr>
              <a:t>def </a:t>
            </a:r>
            <a:r>
              <a:rPr lang="en-US" sz="1600" i="0" dirty="0" err="1">
                <a:effectLst/>
                <a:latin typeface="Times New Roman" panose="02020603050405020304" pitchFamily="18" charset="0"/>
                <a:cs typeface="Times New Roman" panose="02020603050405020304" pitchFamily="18" charset="0"/>
              </a:rPr>
              <a:t>sleep_tracker</a:t>
            </a:r>
            <a:r>
              <a:rPr lang="en-US" sz="1600" i="0" dirty="0">
                <a:effectLst/>
                <a:latin typeface="Times New Roman" panose="02020603050405020304" pitchFamily="18" charset="0"/>
                <a:cs typeface="Times New Roman" panose="02020603050405020304" pitchFamily="18" charset="0"/>
              </a:rPr>
              <a:t>(</a:t>
            </a:r>
            <a:r>
              <a:rPr lang="en-US" sz="1600" i="0" dirty="0" err="1">
                <a:effectLst/>
                <a:latin typeface="Times New Roman" panose="02020603050405020304" pitchFamily="18" charset="0"/>
                <a:cs typeface="Times New Roman" panose="02020603050405020304" pitchFamily="18" charset="0"/>
              </a:rPr>
              <a:t>func</a:t>
            </a:r>
            <a:r>
              <a:rPr lang="en-US" sz="1600" i="0" dirty="0">
                <a:effectLst/>
                <a:latin typeface="Times New Roman" panose="02020603050405020304" pitchFamily="18" charset="0"/>
                <a:cs typeface="Times New Roman" panose="02020603050405020304" pitchFamily="18" charset="0"/>
              </a:rPr>
              <a:t>):    </a:t>
            </a:r>
          </a:p>
          <a:p>
            <a:pPr marL="0" indent="0">
              <a:buNone/>
            </a:pPr>
            <a:r>
              <a:rPr lang="en-US" sz="1600" i="0" dirty="0">
                <a:effectLst/>
                <a:latin typeface="Times New Roman" panose="02020603050405020304" pitchFamily="18" charset="0"/>
                <a:cs typeface="Times New Roman" panose="02020603050405020304" pitchFamily="18" charset="0"/>
              </a:rPr>
              <a:t>      def wrapper(*</a:t>
            </a:r>
            <a:r>
              <a:rPr lang="en-US" sz="1600" i="0" dirty="0" err="1">
                <a:effectLst/>
                <a:latin typeface="Times New Roman" panose="02020603050405020304" pitchFamily="18" charset="0"/>
                <a:cs typeface="Times New Roman" panose="02020603050405020304" pitchFamily="18" charset="0"/>
              </a:rPr>
              <a:t>args</a:t>
            </a:r>
            <a:r>
              <a:rPr lang="en-US" sz="1600" i="0" dirty="0">
                <a:effectLst/>
                <a:latin typeface="Times New Roman" panose="02020603050405020304" pitchFamily="18" charset="0"/>
                <a:cs typeface="Times New Roman" panose="02020603050405020304" pitchFamily="18" charset="0"/>
              </a:rPr>
              <a:t>, **</a:t>
            </a:r>
            <a:r>
              <a:rPr lang="en-US" sz="1600" i="0" dirty="0" err="1">
                <a:effectLst/>
                <a:latin typeface="Times New Roman" panose="02020603050405020304" pitchFamily="18" charset="0"/>
                <a:cs typeface="Times New Roman" panose="02020603050405020304" pitchFamily="18" charset="0"/>
              </a:rPr>
              <a:t>kwargs</a:t>
            </a:r>
            <a:r>
              <a:rPr lang="en-US" sz="1600" i="0" dirty="0">
                <a:effectLst/>
                <a:latin typeface="Times New Roman" panose="02020603050405020304" pitchFamily="18" charset="0"/>
                <a:cs typeface="Times New Roman" panose="02020603050405020304" pitchFamily="18" charset="0"/>
              </a:rPr>
              <a:t>):       </a:t>
            </a:r>
          </a:p>
          <a:p>
            <a:pPr marL="0" indent="0">
              <a:buNone/>
            </a:pPr>
            <a:r>
              <a:rPr lang="en-US" sz="1600" i="0" dirty="0">
                <a:effectLst/>
                <a:latin typeface="Times New Roman" panose="02020603050405020304" pitchFamily="18" charset="0"/>
                <a:cs typeface="Times New Roman" panose="02020603050405020304" pitchFamily="18" charset="0"/>
              </a:rPr>
              <a:t>            print("Tracking your sleep... ")       </a:t>
            </a:r>
          </a:p>
          <a:p>
            <a:pPr marL="0" indent="0">
              <a:buNone/>
            </a:pPr>
            <a:r>
              <a:rPr lang="en-US" sz="1600" i="0" dirty="0">
                <a:effectLst/>
                <a:latin typeface="Times New Roman" panose="02020603050405020304" pitchFamily="18" charset="0"/>
                <a:cs typeface="Times New Roman" panose="02020603050405020304" pitchFamily="18" charset="0"/>
              </a:rPr>
              <a:t>            result = </a:t>
            </a:r>
            <a:r>
              <a:rPr lang="en-US" sz="1600" i="0" dirty="0" err="1">
                <a:effectLst/>
                <a:latin typeface="Times New Roman" panose="02020603050405020304" pitchFamily="18" charset="0"/>
                <a:cs typeface="Times New Roman" panose="02020603050405020304" pitchFamily="18" charset="0"/>
              </a:rPr>
              <a:t>func</a:t>
            </a:r>
            <a:r>
              <a:rPr lang="en-US" sz="1600" i="0" dirty="0">
                <a:effectLst/>
                <a:latin typeface="Times New Roman" panose="02020603050405020304" pitchFamily="18" charset="0"/>
                <a:cs typeface="Times New Roman" panose="02020603050405020304" pitchFamily="18" charset="0"/>
              </a:rPr>
              <a:t>(*</a:t>
            </a:r>
            <a:r>
              <a:rPr lang="en-US" sz="1600" i="0" dirty="0" err="1">
                <a:effectLst/>
                <a:latin typeface="Times New Roman" panose="02020603050405020304" pitchFamily="18" charset="0"/>
                <a:cs typeface="Times New Roman" panose="02020603050405020304" pitchFamily="18" charset="0"/>
              </a:rPr>
              <a:t>args</a:t>
            </a:r>
            <a:r>
              <a:rPr lang="en-US" sz="1600" i="0" dirty="0">
                <a:effectLst/>
                <a:latin typeface="Times New Roman" panose="02020603050405020304" pitchFamily="18" charset="0"/>
                <a:cs typeface="Times New Roman" panose="02020603050405020304" pitchFamily="18" charset="0"/>
              </a:rPr>
              <a:t>, **</a:t>
            </a:r>
            <a:r>
              <a:rPr lang="en-US" sz="1600" i="0" dirty="0" err="1">
                <a:effectLst/>
                <a:latin typeface="Times New Roman" panose="02020603050405020304" pitchFamily="18" charset="0"/>
                <a:cs typeface="Times New Roman" panose="02020603050405020304" pitchFamily="18" charset="0"/>
              </a:rPr>
              <a:t>kwargs</a:t>
            </a:r>
            <a:r>
              <a:rPr lang="en-US" sz="1600" i="0" dirty="0">
                <a:effectLst/>
                <a:latin typeface="Times New Roman" panose="02020603050405020304" pitchFamily="18" charset="0"/>
                <a:cs typeface="Times New Roman" panose="02020603050405020304" pitchFamily="18" charset="0"/>
              </a:rPr>
              <a:t>)        </a:t>
            </a:r>
          </a:p>
          <a:p>
            <a:pPr marL="0" indent="0">
              <a:buNone/>
            </a:pPr>
            <a:r>
              <a:rPr lang="en-US" sz="1600" i="0" dirty="0">
                <a:effectLst/>
                <a:latin typeface="Times New Roman" panose="02020603050405020304" pitchFamily="18" charset="0"/>
                <a:cs typeface="Times New Roman" panose="02020603050405020304" pitchFamily="18" charset="0"/>
              </a:rPr>
              <a:t>            print("Hope you had a good rest!")  </a:t>
            </a:r>
          </a:p>
          <a:p>
            <a:pPr marL="0" indent="0">
              <a:buNone/>
            </a:pPr>
            <a:r>
              <a:rPr lang="en-US" sz="1600" i="0" dirty="0">
                <a:effectLst/>
                <a:latin typeface="Times New Roman" panose="02020603050405020304" pitchFamily="18" charset="0"/>
                <a:cs typeface="Times New Roman" panose="02020603050405020304" pitchFamily="18" charset="0"/>
              </a:rPr>
              <a:t>            return result  </a:t>
            </a:r>
          </a:p>
          <a:p>
            <a:pPr marL="0" indent="0">
              <a:buNone/>
            </a:pPr>
            <a:r>
              <a:rPr lang="en-US" sz="1600" i="0" dirty="0">
                <a:effectLst/>
                <a:latin typeface="Times New Roman" panose="02020603050405020304" pitchFamily="18" charset="0"/>
                <a:cs typeface="Times New Roman" panose="02020603050405020304" pitchFamily="18" charset="0"/>
              </a:rPr>
              <a:t>      return wrapper</a:t>
            </a:r>
          </a:p>
          <a:p>
            <a:pPr marL="0" indent="0">
              <a:buNone/>
            </a:pPr>
            <a:r>
              <a:rPr lang="en-US" sz="1600" i="0" dirty="0">
                <a:effectLst/>
                <a:latin typeface="Times New Roman" panose="02020603050405020304" pitchFamily="18" charset="0"/>
                <a:cs typeface="Times New Roman" panose="02020603050405020304" pitchFamily="18" charset="0"/>
              </a:rPr>
              <a:t>@sleep_tracker</a:t>
            </a:r>
          </a:p>
          <a:p>
            <a:pPr marL="0" indent="0">
              <a:buNone/>
            </a:pPr>
            <a:r>
              <a:rPr lang="en-US" sz="1600" i="0" dirty="0">
                <a:effectLst/>
                <a:latin typeface="Times New Roman" panose="02020603050405020304" pitchFamily="18" charset="0"/>
                <a:cs typeface="Times New Roman" panose="02020603050405020304" pitchFamily="18" charset="0"/>
              </a:rPr>
              <a:t>def sleep(duration):  </a:t>
            </a:r>
          </a:p>
          <a:p>
            <a:pPr marL="0" indent="0">
              <a:buNone/>
            </a:pPr>
            <a:r>
              <a:rPr lang="en-US" sz="1600" i="0" dirty="0">
                <a:effectLst/>
                <a:latin typeface="Times New Roman" panose="02020603050405020304" pitchFamily="18" charset="0"/>
                <a:cs typeface="Times New Roman" panose="02020603050405020304" pitchFamily="18" charset="0"/>
              </a:rPr>
              <a:t>      print(</a:t>
            </a:r>
            <a:r>
              <a:rPr lang="en-US" sz="1600" i="0" dirty="0" err="1">
                <a:effectLst/>
                <a:latin typeface="Times New Roman" panose="02020603050405020304" pitchFamily="18" charset="0"/>
                <a:cs typeface="Times New Roman" panose="02020603050405020304" pitchFamily="18" charset="0"/>
              </a:rPr>
              <a:t>f"Sleeping</a:t>
            </a:r>
            <a:r>
              <a:rPr lang="en-US" sz="1600" i="0" dirty="0">
                <a:effectLst/>
                <a:latin typeface="Times New Roman" panose="02020603050405020304" pitchFamily="18" charset="0"/>
                <a:cs typeface="Times New Roman" panose="02020603050405020304" pitchFamily="18" charset="0"/>
              </a:rPr>
              <a:t> for {duration} hours...")    </a:t>
            </a:r>
          </a:p>
          <a:p>
            <a:pPr marL="0" indent="0">
              <a:buNone/>
            </a:pPr>
            <a:r>
              <a:rPr lang="en-US" sz="1600" i="0" dirty="0">
                <a:effectLst/>
                <a:latin typeface="Times New Roman" panose="02020603050405020304" pitchFamily="18" charset="0"/>
                <a:cs typeface="Times New Roman" panose="02020603050405020304" pitchFamily="18" charset="0"/>
              </a:rPr>
              <a:t>      </a:t>
            </a:r>
            <a:r>
              <a:rPr lang="en-US" sz="1600" i="0" dirty="0" err="1">
                <a:effectLst/>
                <a:latin typeface="Times New Roman" panose="02020603050405020304" pitchFamily="18" charset="0"/>
                <a:cs typeface="Times New Roman" panose="02020603050405020304" pitchFamily="18" charset="0"/>
              </a:rPr>
              <a:t>time.sleep</a:t>
            </a:r>
            <a:r>
              <a:rPr lang="en-US" sz="1600" i="0" dirty="0">
                <a:effectLst/>
                <a:latin typeface="Times New Roman" panose="02020603050405020304" pitchFamily="18" charset="0"/>
                <a:cs typeface="Times New Roman" panose="02020603050405020304" pitchFamily="18" charset="0"/>
              </a:rPr>
              <a:t>(duration)</a:t>
            </a:r>
          </a:p>
          <a:p>
            <a:pPr marL="0" indent="0">
              <a:buNone/>
            </a:pPr>
            <a:r>
              <a:rPr lang="en-US" sz="1600" i="0" dirty="0">
                <a:effectLst/>
                <a:latin typeface="Times New Roman" panose="02020603050405020304" pitchFamily="18" charset="0"/>
                <a:cs typeface="Times New Roman" panose="02020603050405020304" pitchFamily="18" charset="0"/>
              </a:rPr>
              <a:t>duration = int(input("Enter sleep duration </a:t>
            </a:r>
            <a:r>
              <a:rPr lang="en-US" sz="1600" i="0" dirty="0" err="1">
                <a:effectLst/>
                <a:latin typeface="Times New Roman" panose="02020603050405020304" pitchFamily="18" charset="0"/>
                <a:cs typeface="Times New Roman" panose="02020603050405020304" pitchFamily="18" charset="0"/>
              </a:rPr>
              <a:t>maxmium</a:t>
            </a:r>
            <a:r>
              <a:rPr lang="en-US" sz="1600" i="0" dirty="0">
                <a:effectLst/>
                <a:latin typeface="Times New Roman" panose="02020603050405020304" pitchFamily="18" charset="0"/>
                <a:cs typeface="Times New Roman" panose="02020603050405020304" pitchFamily="18" charset="0"/>
              </a:rPr>
              <a:t> (hours): "))</a:t>
            </a:r>
          </a:p>
          <a:p>
            <a:pPr marL="0" indent="0">
              <a:buNone/>
            </a:pPr>
            <a:r>
              <a:rPr lang="en-US" sz="1600" i="0" dirty="0">
                <a:effectLst/>
                <a:latin typeface="Times New Roman" panose="02020603050405020304" pitchFamily="18" charset="0"/>
                <a:cs typeface="Times New Roman" panose="02020603050405020304" pitchFamily="18" charset="0"/>
              </a:rPr>
              <a:t>sleep(duration)</a:t>
            </a:r>
          </a:p>
          <a:p>
            <a:pPr marL="0" indent="0">
              <a:buNone/>
            </a:pPr>
            <a:endParaRPr lang="en-IN" dirty="0"/>
          </a:p>
        </p:txBody>
      </p:sp>
    </p:spTree>
    <p:extLst>
      <p:ext uri="{BB962C8B-B14F-4D97-AF65-F5344CB8AC3E}">
        <p14:creationId xmlns:p14="http://schemas.microsoft.com/office/powerpoint/2010/main" val="18901628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2E0952-46BB-6AC6-C585-3B08F7A9A69A}"/>
              </a:ext>
            </a:extLst>
          </p:cNvPr>
          <p:cNvSpPr>
            <a:spLocks noGrp="1"/>
          </p:cNvSpPr>
          <p:nvPr>
            <p:ph idx="1"/>
          </p:nvPr>
        </p:nvSpPr>
        <p:spPr>
          <a:xfrm>
            <a:off x="838200" y="1116499"/>
            <a:ext cx="10515600" cy="4351338"/>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dirty="0"/>
          </a:p>
          <a:p>
            <a:pPr marL="0" indent="0">
              <a:buNone/>
            </a:pPr>
            <a:r>
              <a:rPr lang="en-US" b="1" dirty="0">
                <a:solidFill>
                  <a:srgbClr val="FF0000"/>
                </a:solidFill>
                <a:latin typeface="Times New Roman" panose="02020603050405020304" pitchFamily="18" charset="0"/>
                <a:cs typeface="Times New Roman" panose="02020603050405020304" pitchFamily="18" charset="0"/>
              </a:rPr>
              <a:t>Output:</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B9B16A6F-8F99-475B-9C50-D11B6B5860CC}"/>
              </a:ext>
            </a:extLst>
          </p:cNvPr>
          <p:cNvPicPr>
            <a:picLocks noChangeAspect="1"/>
          </p:cNvPicPr>
          <p:nvPr/>
        </p:nvPicPr>
        <p:blipFill>
          <a:blip r:embed="rId2"/>
          <a:stretch>
            <a:fillRect/>
          </a:stretch>
        </p:blipFill>
        <p:spPr>
          <a:xfrm>
            <a:off x="838200" y="1733850"/>
            <a:ext cx="9033588" cy="284595"/>
          </a:xfrm>
          <a:prstGeom prst="rect">
            <a:avLst/>
          </a:prstGeom>
        </p:spPr>
      </p:pic>
      <p:pic>
        <p:nvPicPr>
          <p:cNvPr id="9" name="Picture 8">
            <a:extLst>
              <a:ext uri="{FF2B5EF4-FFF2-40B4-BE49-F238E27FC236}">
                <a16:creationId xmlns:a16="http://schemas.microsoft.com/office/drawing/2014/main" id="{21F21B15-059F-A46F-243D-FA50E41F117B}"/>
              </a:ext>
            </a:extLst>
          </p:cNvPr>
          <p:cNvPicPr>
            <a:picLocks noChangeAspect="1"/>
          </p:cNvPicPr>
          <p:nvPr/>
        </p:nvPicPr>
        <p:blipFill>
          <a:blip r:embed="rId3"/>
          <a:stretch>
            <a:fillRect/>
          </a:stretch>
        </p:blipFill>
        <p:spPr>
          <a:xfrm>
            <a:off x="838200" y="2708007"/>
            <a:ext cx="3448531" cy="818963"/>
          </a:xfrm>
          <a:prstGeom prst="rect">
            <a:avLst/>
          </a:prstGeom>
        </p:spPr>
      </p:pic>
    </p:spTree>
    <p:extLst>
      <p:ext uri="{BB962C8B-B14F-4D97-AF65-F5344CB8AC3E}">
        <p14:creationId xmlns:p14="http://schemas.microsoft.com/office/powerpoint/2010/main" val="379497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DB250-2513-F962-DAEC-1EA535AD3700}"/>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Summary about Decorators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C662E5-D18E-9D4A-A2BE-45DD829659D6}"/>
              </a:ext>
            </a:extLst>
          </p:cNvPr>
          <p:cNvSpPr>
            <a:spLocks noGrp="1"/>
          </p:cNvSpPr>
          <p:nvPr>
            <p:ph idx="1"/>
          </p:nvPr>
        </p:nvSpPr>
        <p:spPr/>
        <p:txBody>
          <a:bodyPr>
            <a:normAutofit/>
          </a:bodyPr>
          <a:lstStyle/>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Decorators are powerful tools in python for modifying function behavior.</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They help improve code modularity, readability, and reuse.</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Python provides built-in decorators like static method, class method and property.</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Always remember to preserve function metadata with </a:t>
            </a:r>
            <a:r>
              <a:rPr lang="en-US" sz="2400" dirty="0" err="1">
                <a:latin typeface="Times New Roman" panose="02020603050405020304" pitchFamily="18" charset="0"/>
                <a:cs typeface="Times New Roman" panose="02020603050405020304" pitchFamily="18" charset="0"/>
              </a:rPr>
              <a:t>functools.wraps</a:t>
            </a:r>
            <a:r>
              <a:rPr lang="en-US" sz="2400" dirty="0">
                <a:latin typeface="Times New Roman" panose="02020603050405020304" pitchFamily="18" charset="0"/>
                <a:cs typeface="Times New Roman" panose="02020603050405020304" pitchFamily="18" charset="0"/>
              </a:rPr>
              <a:t> when creating custom decorators.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114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A53FE-8170-DA31-3576-CABCD81AD8D8}"/>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Summary of Benefits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489B6EA-58B0-EF98-D663-54D65D401634}"/>
              </a:ext>
            </a:extLst>
          </p:cNvPr>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Automates Daily Routine </a:t>
            </a:r>
            <a:r>
              <a:rPr lang="en-US" sz="2400" dirty="0">
                <a:latin typeface="Times New Roman" panose="02020603050405020304" pitchFamily="18" charset="0"/>
                <a:cs typeface="Times New Roman" panose="02020603050405020304" pitchFamily="18" charset="0"/>
              </a:rPr>
              <a:t>– Ensures essential tasks are completed.</a:t>
            </a:r>
          </a:p>
          <a:p>
            <a:r>
              <a:rPr lang="en-US" sz="2400" b="1" dirty="0">
                <a:latin typeface="Times New Roman" panose="02020603050405020304" pitchFamily="18" charset="0"/>
                <a:cs typeface="Times New Roman" panose="02020603050405020304" pitchFamily="18" charset="0"/>
              </a:rPr>
              <a:t>Tracks Time Efficiency</a:t>
            </a:r>
            <a:r>
              <a:rPr lang="en-US" sz="2400" dirty="0">
                <a:latin typeface="Times New Roman" panose="02020603050405020304" pitchFamily="18" charset="0"/>
                <a:cs typeface="Times New Roman" panose="02020603050405020304" pitchFamily="18" charset="0"/>
              </a:rPr>
              <a:t> – Logs workout, cooking, and sleep duration.</a:t>
            </a:r>
          </a:p>
          <a:p>
            <a:r>
              <a:rPr lang="en-US" sz="2400" b="1" dirty="0">
                <a:latin typeface="Times New Roman" panose="02020603050405020304" pitchFamily="18" charset="0"/>
                <a:cs typeface="Times New Roman" panose="02020603050405020304" pitchFamily="18" charset="0"/>
              </a:rPr>
              <a:t>Improves Productivity </a:t>
            </a:r>
            <a:r>
              <a:rPr lang="en-US" sz="2400" dirty="0">
                <a:latin typeface="Times New Roman" panose="02020603050405020304" pitchFamily="18" charset="0"/>
                <a:cs typeface="Times New Roman" panose="02020603050405020304" pitchFamily="18" charset="0"/>
              </a:rPr>
              <a:t>– Reduces forgetfulness and keeps you on schedule.</a:t>
            </a:r>
          </a:p>
          <a:p>
            <a:r>
              <a:rPr lang="en-US" sz="2400" b="1" dirty="0">
                <a:latin typeface="Times New Roman" panose="02020603050405020304" pitchFamily="18" charset="0"/>
                <a:cs typeface="Times New Roman" panose="02020603050405020304" pitchFamily="18" charset="0"/>
              </a:rPr>
              <a:t>Reusable &amp; Scalable</a:t>
            </a:r>
            <a:r>
              <a:rPr lang="en-US" sz="2400" dirty="0">
                <a:latin typeface="Times New Roman" panose="02020603050405020304" pitchFamily="18" charset="0"/>
                <a:cs typeface="Times New Roman" panose="02020603050405020304" pitchFamily="18" charset="0"/>
              </a:rPr>
              <a:t> – Can easily add more daily activities. </a:t>
            </a:r>
          </a:p>
          <a:p>
            <a:r>
              <a:rPr lang="en-US" sz="2400" dirty="0">
                <a:latin typeface="Times New Roman" panose="02020603050405020304" pitchFamily="18" charset="0"/>
                <a:cs typeface="Times New Roman" panose="02020603050405020304" pitchFamily="18" charset="0"/>
              </a:rPr>
              <a:t>Ideal for people with busy schedules to stay organized.</a:t>
            </a:r>
          </a:p>
          <a:p>
            <a:r>
              <a:rPr lang="en-US" sz="2400" dirty="0">
                <a:latin typeface="Times New Roman" panose="02020603050405020304" pitchFamily="18" charset="0"/>
                <a:cs typeface="Times New Roman" panose="02020603050405020304" pitchFamily="18" charset="0"/>
              </a:rPr>
              <a:t>Encourages healthy habits like hydration, exercise, and proper sleep.</a:t>
            </a:r>
          </a:p>
          <a:p>
            <a:r>
              <a:rPr lang="en-US" sz="2400" dirty="0">
                <a:latin typeface="Times New Roman" panose="02020603050405020304" pitchFamily="18" charset="0"/>
                <a:cs typeface="Times New Roman" panose="02020603050405020304" pitchFamily="18" charset="0"/>
              </a:rPr>
              <a:t>Supports improved time tracking for activities like cooking and workouts.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8348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43321B-5E2A-AED9-90A0-F40AEE2BC3B1}"/>
              </a:ext>
            </a:extLst>
          </p:cNvPr>
          <p:cNvSpPr>
            <a:spLocks noGrp="1"/>
          </p:cNvSpPr>
          <p:nvPr>
            <p:ph type="ctrTitle"/>
          </p:nvPr>
        </p:nvSpPr>
        <p:spPr/>
        <p:txBody>
          <a:bodyPr>
            <a:normAutofit/>
          </a:bodyPr>
          <a:lstStyle/>
          <a:p>
            <a:r>
              <a:rPr lang="en-IN" sz="7200" b="1" dirty="0">
                <a:latin typeface="Times New Roman" panose="02020603050405020304" pitchFamily="18" charset="0"/>
                <a:cs typeface="Times New Roman" panose="02020603050405020304" pitchFamily="18" charset="0"/>
              </a:rPr>
              <a:t>GENERATORS</a:t>
            </a:r>
          </a:p>
        </p:txBody>
      </p:sp>
    </p:spTree>
    <p:extLst>
      <p:ext uri="{BB962C8B-B14F-4D97-AF65-F5344CB8AC3E}">
        <p14:creationId xmlns:p14="http://schemas.microsoft.com/office/powerpoint/2010/main" val="28255713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9D15A-F6E2-4090-B66E-A042996C8AF4}"/>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What is a Generator?</a:t>
            </a:r>
          </a:p>
        </p:txBody>
      </p:sp>
      <p:sp>
        <p:nvSpPr>
          <p:cNvPr id="3" name="Content Placeholder 2">
            <a:extLst>
              <a:ext uri="{FF2B5EF4-FFF2-40B4-BE49-F238E27FC236}">
                <a16:creationId xmlns:a16="http://schemas.microsoft.com/office/drawing/2014/main" id="{CFEB2C0D-7656-ADEB-53B1-F4995FB3871A}"/>
              </a:ext>
            </a:extLst>
          </p:cNvPr>
          <p:cNvSpPr>
            <a:spLocks noGrp="1"/>
          </p:cNvSpPr>
          <p:nvPr>
            <p:ph idx="1"/>
          </p:nvPr>
        </p:nvSpPr>
        <p:spPr>
          <a:xfrm>
            <a:off x="838200" y="1825625"/>
            <a:ext cx="8697686" cy="4351338"/>
          </a:xfrm>
        </p:spPr>
        <p:txBody>
          <a:bodyPr/>
          <a:lstStyle/>
          <a:p>
            <a:pPr marL="0" indent="0">
              <a:buNone/>
            </a:pPr>
            <a:r>
              <a:rPr lang="en-IN" dirty="0">
                <a:latin typeface="Times New Roman" panose="02020603050405020304" pitchFamily="18" charset="0"/>
                <a:cs typeface="Times New Roman" panose="02020603050405020304" pitchFamily="18" charset="0"/>
              </a:rPr>
              <a:t>Generator function are a special kind of function that returns a Lazy Iterator</a:t>
            </a:r>
          </a:p>
        </p:txBody>
      </p:sp>
    </p:spTree>
    <p:extLst>
      <p:ext uri="{BB962C8B-B14F-4D97-AF65-F5344CB8AC3E}">
        <p14:creationId xmlns:p14="http://schemas.microsoft.com/office/powerpoint/2010/main" val="27740256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E96B8-46B9-2687-1CC3-9A18AD0F11B9}"/>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Why Use Generators?</a:t>
            </a:r>
          </a:p>
        </p:txBody>
      </p:sp>
      <p:sp>
        <p:nvSpPr>
          <p:cNvPr id="3" name="Content Placeholder 2">
            <a:extLst>
              <a:ext uri="{FF2B5EF4-FFF2-40B4-BE49-F238E27FC236}">
                <a16:creationId xmlns:a16="http://schemas.microsoft.com/office/drawing/2014/main" id="{6715FAF5-44DD-A5CB-24A6-A36C5736D1AD}"/>
              </a:ext>
            </a:extLst>
          </p:cNvPr>
          <p:cNvSpPr>
            <a:spLocks noGrp="1"/>
          </p:cNvSpPr>
          <p:nvPr>
            <p:ph idx="1"/>
          </p:nvPr>
        </p:nvSpPr>
        <p:spPr/>
        <p:txBody>
          <a:bodyPr>
            <a:normAutofit/>
          </a:bodyPr>
          <a:lstStyle/>
          <a:p>
            <a:r>
              <a:rPr lang="en-IN" sz="2400" b="1" dirty="0">
                <a:latin typeface="Times New Roman" panose="02020603050405020304" pitchFamily="18" charset="0"/>
                <a:cs typeface="Times New Roman" panose="02020603050405020304" pitchFamily="18" charset="0"/>
              </a:rPr>
              <a:t>Memory Efficiency: </a:t>
            </a:r>
            <a:r>
              <a:rPr lang="en-IN" sz="2400" dirty="0">
                <a:latin typeface="Times New Roman" panose="02020603050405020304" pitchFamily="18" charset="0"/>
                <a:cs typeface="Times New Roman" panose="02020603050405020304" pitchFamily="18" charset="0"/>
              </a:rPr>
              <a:t>Since generators </a:t>
            </a:r>
            <a:r>
              <a:rPr lang="en-IN" sz="2400" u="sng" dirty="0">
                <a:solidFill>
                  <a:schemeClr val="accent5">
                    <a:lumMod val="75000"/>
                  </a:schemeClr>
                </a:solidFill>
                <a:latin typeface="Times New Roman" panose="02020603050405020304" pitchFamily="18" charset="0"/>
                <a:cs typeface="Times New Roman" panose="02020603050405020304" pitchFamily="18" charset="0"/>
              </a:rPr>
              <a:t>yield</a:t>
            </a:r>
            <a:r>
              <a:rPr lang="en-IN" sz="2400" dirty="0">
                <a:latin typeface="Times New Roman" panose="02020603050405020304" pitchFamily="18" charset="0"/>
                <a:cs typeface="Times New Roman" panose="02020603050405020304" pitchFamily="18" charset="0"/>
              </a:rPr>
              <a:t> items one at a time, they don’t store the entire sequence in memory.</a:t>
            </a:r>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Lazy Evaluation: </a:t>
            </a:r>
            <a:r>
              <a:rPr lang="en-IN" sz="2400" dirty="0">
                <a:latin typeface="Times New Roman" panose="02020603050405020304" pitchFamily="18" charset="0"/>
                <a:cs typeface="Times New Roman" panose="02020603050405020304" pitchFamily="18" charset="0"/>
              </a:rPr>
              <a:t>They compute values on the fly, making them ideal for handling large data streams.</a:t>
            </a:r>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Improved Performance: </a:t>
            </a:r>
            <a:r>
              <a:rPr lang="en-IN" sz="2400" dirty="0">
                <a:latin typeface="Times New Roman" panose="02020603050405020304" pitchFamily="18" charset="0"/>
                <a:cs typeface="Times New Roman" panose="02020603050405020304" pitchFamily="18" charset="0"/>
              </a:rPr>
              <a:t>Reduces memory overhead by avoiding creating and storing large data structures.</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64398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B7CB-1FC2-BDDD-FCCF-09487F7A49BC}"/>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Creating a Generator</a:t>
            </a:r>
          </a:p>
        </p:txBody>
      </p:sp>
      <p:sp>
        <p:nvSpPr>
          <p:cNvPr id="3" name="Content Placeholder 2">
            <a:extLst>
              <a:ext uri="{FF2B5EF4-FFF2-40B4-BE49-F238E27FC236}">
                <a16:creationId xmlns:a16="http://schemas.microsoft.com/office/drawing/2014/main" id="{0346243A-1410-8270-BADF-7DED6E6EE347}"/>
              </a:ext>
            </a:extLst>
          </p:cNvPr>
          <p:cNvSpPr>
            <a:spLocks noGrp="1"/>
          </p:cNvSpPr>
          <p:nvPr>
            <p:ph idx="1"/>
          </p:nvPr>
        </p:nvSpPr>
        <p:spPr/>
        <p:txBody>
          <a:bodyPr>
            <a:normAutofit/>
          </a:bodyPr>
          <a:lstStyle/>
          <a:p>
            <a:r>
              <a:rPr lang="en-IN" sz="2400" b="1" dirty="0">
                <a:latin typeface="Times New Roman" panose="02020603050405020304" pitchFamily="18" charset="0"/>
                <a:cs typeface="Times New Roman" panose="02020603050405020304" pitchFamily="18" charset="0"/>
              </a:rPr>
              <a:t>Syntax: </a:t>
            </a:r>
            <a:r>
              <a:rPr lang="en-IN" sz="2400" dirty="0">
                <a:latin typeface="Times New Roman" panose="02020603050405020304" pitchFamily="18" charset="0"/>
                <a:cs typeface="Times New Roman" panose="02020603050405020304" pitchFamily="18" charset="0"/>
              </a:rPr>
              <a:t>A Generator is created using a function with the </a:t>
            </a:r>
            <a:r>
              <a:rPr lang="en-IN" sz="2400" u="sng" dirty="0">
                <a:solidFill>
                  <a:schemeClr val="accent5">
                    <a:lumMod val="75000"/>
                  </a:schemeClr>
                </a:solidFill>
                <a:latin typeface="Times New Roman" panose="02020603050405020304" pitchFamily="18" charset="0"/>
                <a:cs typeface="Times New Roman" panose="02020603050405020304" pitchFamily="18" charset="0"/>
              </a:rPr>
              <a:t>yield </a:t>
            </a:r>
            <a:r>
              <a:rPr lang="en-IN" sz="2400" dirty="0">
                <a:latin typeface="Times New Roman" panose="02020603050405020304" pitchFamily="18" charset="0"/>
                <a:cs typeface="Times New Roman" panose="02020603050405020304" pitchFamily="18" charset="0"/>
              </a:rPr>
              <a:t>keyword instead of </a:t>
            </a:r>
            <a:r>
              <a:rPr lang="en-IN" sz="2400" u="sng" dirty="0">
                <a:solidFill>
                  <a:schemeClr val="accent5">
                    <a:lumMod val="75000"/>
                  </a:schemeClr>
                </a:solidFill>
                <a:latin typeface="Times New Roman" panose="02020603050405020304" pitchFamily="18" charset="0"/>
                <a:cs typeface="Times New Roman" panose="02020603050405020304" pitchFamily="18" charset="0"/>
              </a:rPr>
              <a:t>return</a:t>
            </a:r>
            <a:r>
              <a:rPr lang="en-IN" sz="2400" dirty="0">
                <a:latin typeface="Times New Roman" panose="02020603050405020304" pitchFamily="18" charset="0"/>
                <a:cs typeface="Times New Roman" panose="02020603050405020304" pitchFamily="18" charset="0"/>
              </a:rPr>
              <a:t>.</a:t>
            </a:r>
          </a:p>
          <a:p>
            <a:r>
              <a:rPr lang="en-IN" sz="2400" dirty="0">
                <a:latin typeface="Times New Roman" panose="02020603050405020304" pitchFamily="18" charset="0"/>
                <a:cs typeface="Times New Roman" panose="02020603050405020304" pitchFamily="18" charset="0"/>
              </a:rPr>
              <a:t>Yield allows the function to return a value, but the functions state is remembered between calls.</a:t>
            </a:r>
          </a:p>
          <a:p>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a:t>
            </a:r>
          </a:p>
          <a:p>
            <a:pPr marL="0" indent="0">
              <a:buNone/>
            </a:pP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When the generator is called, it returns a generator object.</a:t>
            </a:r>
          </a:p>
        </p:txBody>
      </p:sp>
      <p:pic>
        <p:nvPicPr>
          <p:cNvPr id="5" name="Picture 4">
            <a:extLst>
              <a:ext uri="{FF2B5EF4-FFF2-40B4-BE49-F238E27FC236}">
                <a16:creationId xmlns:a16="http://schemas.microsoft.com/office/drawing/2014/main" id="{BB1552FB-01C9-F36A-5363-62DE6DEB1FF7}"/>
              </a:ext>
            </a:extLst>
          </p:cNvPr>
          <p:cNvPicPr>
            <a:picLocks noChangeAspect="1"/>
          </p:cNvPicPr>
          <p:nvPr/>
        </p:nvPicPr>
        <p:blipFill>
          <a:blip r:embed="rId2"/>
          <a:stretch>
            <a:fillRect/>
          </a:stretch>
        </p:blipFill>
        <p:spPr>
          <a:xfrm>
            <a:off x="668528" y="3429000"/>
            <a:ext cx="11004234" cy="1325563"/>
          </a:xfrm>
          <a:prstGeom prst="rect">
            <a:avLst/>
          </a:prstGeom>
        </p:spPr>
      </p:pic>
    </p:spTree>
    <p:extLst>
      <p:ext uri="{BB962C8B-B14F-4D97-AF65-F5344CB8AC3E}">
        <p14:creationId xmlns:p14="http://schemas.microsoft.com/office/powerpoint/2010/main" val="37753397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3547D-3F4D-24CC-6B70-467F124A2EB7}"/>
              </a:ext>
            </a:extLst>
          </p:cNvPr>
          <p:cNvSpPr>
            <a:spLocks noGrp="1"/>
          </p:cNvSpPr>
          <p:nvPr>
            <p:ph type="title"/>
          </p:nvPr>
        </p:nvSpPr>
        <p:spPr/>
        <p:txBody>
          <a:bodyPr>
            <a:normAutofit/>
          </a:bodyPr>
          <a:lstStyle/>
          <a:p>
            <a:r>
              <a:rPr lang="en-IN" sz="3600" b="1" dirty="0">
                <a:latin typeface="Times New Roman" panose="02020603050405020304" pitchFamily="18" charset="0"/>
                <a:cs typeface="Times New Roman" panose="02020603050405020304" pitchFamily="18" charset="0"/>
              </a:rPr>
              <a:t>Using a Generator</a:t>
            </a:r>
          </a:p>
        </p:txBody>
      </p:sp>
      <p:sp>
        <p:nvSpPr>
          <p:cNvPr id="3" name="Content Placeholder 2">
            <a:extLst>
              <a:ext uri="{FF2B5EF4-FFF2-40B4-BE49-F238E27FC236}">
                <a16:creationId xmlns:a16="http://schemas.microsoft.com/office/drawing/2014/main" id="{FB13828B-BB31-0B7D-97F1-B6AE624D66BD}"/>
              </a:ext>
            </a:extLst>
          </p:cNvPr>
          <p:cNvSpPr>
            <a:spLocks noGrp="1"/>
          </p:cNvSpPr>
          <p:nvPr>
            <p:ph idx="1"/>
          </p:nvPr>
        </p:nvSpPr>
        <p:spPr/>
        <p:txBody>
          <a:bodyPr>
            <a:normAutofit/>
          </a:bodyPr>
          <a:lstStyle/>
          <a:p>
            <a:r>
              <a:rPr lang="en-IN" sz="2400" dirty="0">
                <a:latin typeface="Times New Roman" panose="02020603050405020304" pitchFamily="18" charset="0"/>
                <a:cs typeface="Times New Roman" panose="02020603050405020304" pitchFamily="18" charset="0"/>
              </a:rPr>
              <a:t>How to get values from a generator.</a:t>
            </a:r>
          </a:p>
          <a:p>
            <a:r>
              <a:rPr lang="en-IN" sz="2400" dirty="0">
                <a:latin typeface="Times New Roman" panose="02020603050405020304" pitchFamily="18" charset="0"/>
                <a:cs typeface="Times New Roman" panose="02020603050405020304" pitchFamily="18" charset="0"/>
              </a:rPr>
              <a:t>You can loop over the generator using a </a:t>
            </a:r>
            <a:r>
              <a:rPr lang="en-IN" sz="2400" u="sng" dirty="0">
                <a:solidFill>
                  <a:srgbClr val="0070C0"/>
                </a:solidFill>
                <a:latin typeface="Times New Roman" panose="02020603050405020304" pitchFamily="18" charset="0"/>
                <a:cs typeface="Times New Roman" panose="02020603050405020304" pitchFamily="18" charset="0"/>
              </a:rPr>
              <a:t>‘for’ </a:t>
            </a:r>
            <a:r>
              <a:rPr lang="en-IN" sz="2400" dirty="0">
                <a:latin typeface="Times New Roman" panose="02020603050405020304" pitchFamily="18" charset="0"/>
                <a:cs typeface="Times New Roman" panose="02020603050405020304" pitchFamily="18" charset="0"/>
              </a:rPr>
              <a:t>loop or use the </a:t>
            </a:r>
            <a:r>
              <a:rPr lang="en-IN" sz="2400" u="sng" dirty="0">
                <a:solidFill>
                  <a:srgbClr val="0070C0"/>
                </a:solidFill>
                <a:latin typeface="Times New Roman" panose="02020603050405020304" pitchFamily="18" charset="0"/>
                <a:cs typeface="Times New Roman" panose="02020603050405020304" pitchFamily="18" charset="0"/>
              </a:rPr>
              <a:t>‘next()’</a:t>
            </a:r>
            <a:r>
              <a:rPr lang="en-IN" sz="2400" dirty="0">
                <a:latin typeface="Times New Roman" panose="02020603050405020304" pitchFamily="18" charset="0"/>
                <a:cs typeface="Times New Roman" panose="02020603050405020304" pitchFamily="18" charset="0"/>
              </a:rPr>
              <a:t> function to get individual items.</a:t>
            </a:r>
          </a:p>
          <a:p>
            <a:pPr marL="0" indent="0">
              <a:buNone/>
            </a:pP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      </a:t>
            </a:r>
          </a:p>
          <a:p>
            <a:r>
              <a:rPr lang="en-IN" sz="2400" dirty="0">
                <a:latin typeface="Times New Roman" panose="02020603050405020304" pitchFamily="18" charset="0"/>
                <a:cs typeface="Times New Roman" panose="02020603050405020304" pitchFamily="18" charset="0"/>
              </a:rPr>
              <a:t>With next() method.</a:t>
            </a: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7F376481-C1B9-45A8-1413-AA90BF2F15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7228" y="3100975"/>
            <a:ext cx="10897544" cy="1325563"/>
          </a:xfrm>
          <a:prstGeom prst="rect">
            <a:avLst/>
          </a:prstGeom>
        </p:spPr>
      </p:pic>
      <p:pic>
        <p:nvPicPr>
          <p:cNvPr id="9" name="Picture 8">
            <a:extLst>
              <a:ext uri="{FF2B5EF4-FFF2-40B4-BE49-F238E27FC236}">
                <a16:creationId xmlns:a16="http://schemas.microsoft.com/office/drawing/2014/main" id="{3DFE8F2D-8CDC-BA3F-97B8-23EF9F5BFA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7228" y="4891311"/>
            <a:ext cx="10859441" cy="1082134"/>
          </a:xfrm>
          <a:prstGeom prst="rect">
            <a:avLst/>
          </a:prstGeom>
        </p:spPr>
      </p:pic>
    </p:spTree>
    <p:extLst>
      <p:ext uri="{BB962C8B-B14F-4D97-AF65-F5344CB8AC3E}">
        <p14:creationId xmlns:p14="http://schemas.microsoft.com/office/powerpoint/2010/main" val="3152334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DDBB6-7B47-DD56-F276-76FDC83740DA}"/>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Generators vs Iterators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D6F9EB-4B82-1CBA-AF43-79BF3B28F160}"/>
              </a:ext>
            </a:extLst>
          </p:cNvPr>
          <p:cNvSpPr>
            <a:spLocks noGrp="1"/>
          </p:cNvSpPr>
          <p:nvPr>
            <p:ph idx="1"/>
          </p:nvPr>
        </p:nvSpPr>
        <p:spPr>
          <a:xfrm>
            <a:off x="838200" y="1539551"/>
            <a:ext cx="10515600" cy="4637412"/>
          </a:xfrm>
        </p:spPr>
        <p:txBody>
          <a:bodyPr>
            <a:normAutofit/>
          </a:bodyPr>
          <a:lstStyle/>
          <a:p>
            <a:r>
              <a:rPr lang="en-US" sz="2400" b="1" dirty="0">
                <a:latin typeface="Times New Roman" panose="02020603050405020304" pitchFamily="18" charset="0"/>
                <a:cs typeface="Times New Roman" panose="02020603050405020304" pitchFamily="18" charset="0"/>
              </a:rPr>
              <a:t>Iterators: </a:t>
            </a:r>
            <a:r>
              <a:rPr lang="en-US" sz="2400" dirty="0">
                <a:latin typeface="Times New Roman" panose="02020603050405020304" pitchFamily="18" charset="0"/>
                <a:cs typeface="Times New Roman" panose="02020603050405020304" pitchFamily="18" charset="0"/>
              </a:rPr>
              <a:t>Any object that implements the </a:t>
            </a:r>
            <a:r>
              <a:rPr lang="en-US" sz="2400" dirty="0">
                <a:solidFill>
                  <a:schemeClr val="accent1"/>
                </a:solidFill>
                <a:latin typeface="Times New Roman" panose="02020603050405020304" pitchFamily="18" charset="0"/>
                <a:cs typeface="Times New Roman" panose="02020603050405020304" pitchFamily="18" charset="0"/>
              </a:rPr>
              <a:t>_iter()_</a:t>
            </a:r>
            <a:r>
              <a:rPr lang="en-US" sz="2400" dirty="0">
                <a:latin typeface="Times New Roman" panose="02020603050405020304" pitchFamily="18" charset="0"/>
                <a:cs typeface="Times New Roman" panose="02020603050405020304" pitchFamily="18" charset="0"/>
              </a:rPr>
              <a:t>  and  </a:t>
            </a:r>
            <a:r>
              <a:rPr lang="en-US" sz="2400" dirty="0">
                <a:solidFill>
                  <a:schemeClr val="accent1"/>
                </a:solidFill>
                <a:latin typeface="Times New Roman" panose="02020603050405020304" pitchFamily="18" charset="0"/>
                <a:cs typeface="Times New Roman" panose="02020603050405020304" pitchFamily="18" charset="0"/>
              </a:rPr>
              <a:t>_next()_</a:t>
            </a:r>
            <a:r>
              <a:rPr lang="en-US" sz="2400" dirty="0">
                <a:latin typeface="Times New Roman" panose="02020603050405020304" pitchFamily="18" charset="0"/>
                <a:cs typeface="Times New Roman" panose="02020603050405020304" pitchFamily="18" charset="0"/>
              </a:rPr>
              <a:t> methods.</a:t>
            </a:r>
          </a:p>
          <a:p>
            <a:r>
              <a:rPr lang="en-US" sz="2400" b="1" dirty="0">
                <a:latin typeface="Times New Roman" panose="02020603050405020304" pitchFamily="18" charset="0"/>
                <a:cs typeface="Times New Roman" panose="02020603050405020304" pitchFamily="18" charset="0"/>
              </a:rPr>
              <a:t>Generators: </a:t>
            </a:r>
            <a:r>
              <a:rPr lang="en-US" sz="2400" dirty="0">
                <a:latin typeface="Times New Roman" panose="02020603050405020304" pitchFamily="18" charset="0"/>
                <a:cs typeface="Times New Roman" panose="02020603050405020304" pitchFamily="18" charset="0"/>
              </a:rPr>
              <a:t>A type of iterators, but they are created automatically using functions with </a:t>
            </a:r>
            <a:r>
              <a:rPr lang="en-US" sz="2400" dirty="0">
                <a:solidFill>
                  <a:schemeClr val="accent1"/>
                </a:solidFill>
                <a:latin typeface="Times New Roman" panose="02020603050405020304" pitchFamily="18" charset="0"/>
                <a:cs typeface="Times New Roman" panose="02020603050405020304" pitchFamily="18" charset="0"/>
              </a:rPr>
              <a:t>‘yield’</a:t>
            </a:r>
            <a:r>
              <a:rPr lang="en-US" sz="2400" dirty="0">
                <a:latin typeface="Times New Roman" panose="02020603050405020304" pitchFamily="18" charset="0"/>
                <a:cs typeface="Times New Roman" panose="02020603050405020304" pitchFamily="18" charset="0"/>
              </a:rPr>
              <a:t>.</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Though Generators are a subclass of Iterators, they are more handy and compact. Iterators, which require </a:t>
            </a:r>
            <a:r>
              <a:rPr lang="en-US" sz="2400" dirty="0">
                <a:solidFill>
                  <a:schemeClr val="accent1"/>
                </a:solidFill>
                <a:latin typeface="Times New Roman" panose="02020603050405020304" pitchFamily="18" charset="0"/>
                <a:cs typeface="Times New Roman" panose="02020603050405020304" pitchFamily="18" charset="0"/>
              </a:rPr>
              <a:t>_iter_ </a:t>
            </a:r>
            <a:r>
              <a:rPr lang="en-US" sz="2400" dirty="0">
                <a:latin typeface="Times New Roman" panose="02020603050405020304" pitchFamily="18" charset="0"/>
                <a:cs typeface="Times New Roman" panose="02020603050405020304" pitchFamily="18" charset="0"/>
              </a:rPr>
              <a:t>and </a:t>
            </a:r>
            <a:r>
              <a:rPr lang="en-US" sz="2400" dirty="0">
                <a:solidFill>
                  <a:schemeClr val="accent1"/>
                </a:solidFill>
                <a:latin typeface="Times New Roman" panose="02020603050405020304" pitchFamily="18" charset="0"/>
                <a:cs typeface="Times New Roman" panose="02020603050405020304" pitchFamily="18" charset="0"/>
              </a:rPr>
              <a:t>_next()_ </a:t>
            </a:r>
            <a:r>
              <a:rPr lang="en-US" sz="2400" dirty="0">
                <a:latin typeface="Times New Roman" panose="02020603050405020304" pitchFamily="18" charset="0"/>
                <a:cs typeface="Times New Roman" panose="02020603050405020304" pitchFamily="18" charset="0"/>
              </a:rPr>
              <a:t>methods, Generators are simple functions with a </a:t>
            </a:r>
            <a:r>
              <a:rPr lang="en-US" sz="2400" dirty="0">
                <a:solidFill>
                  <a:schemeClr val="accent1"/>
                </a:solidFill>
                <a:latin typeface="Times New Roman" panose="02020603050405020304" pitchFamily="18" charset="0"/>
                <a:cs typeface="Times New Roman" panose="02020603050405020304" pitchFamily="18" charset="0"/>
              </a:rPr>
              <a:t>yield</a:t>
            </a:r>
            <a:r>
              <a:rPr lang="en-US" sz="2400" dirty="0">
                <a:latin typeface="Times New Roman" panose="02020603050405020304" pitchFamily="18" charset="0"/>
                <a:cs typeface="Times New Roman" panose="02020603050405020304" pitchFamily="18" charset="0"/>
              </a:rPr>
              <a:t> statement.</a:t>
            </a:r>
          </a:p>
          <a:p>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0" indent="0">
              <a:buNone/>
            </a:pPr>
            <a:endParaRPr lang="en-IN" sz="2400" b="1"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D663A1F-38FA-BDF6-53A5-9573A8CB9B25}"/>
              </a:ext>
            </a:extLst>
          </p:cNvPr>
          <p:cNvGraphicFramePr>
            <a:graphicFrameLocks noGrp="1"/>
          </p:cNvGraphicFramePr>
          <p:nvPr>
            <p:extLst>
              <p:ext uri="{D42A27DB-BD31-4B8C-83A1-F6EECF244321}">
                <p14:modId xmlns:p14="http://schemas.microsoft.com/office/powerpoint/2010/main" val="1919599666"/>
              </p:ext>
            </p:extLst>
          </p:nvPr>
        </p:nvGraphicFramePr>
        <p:xfrm>
          <a:off x="1168400" y="2966720"/>
          <a:ext cx="9428481" cy="1478280"/>
        </p:xfrm>
        <a:graphic>
          <a:graphicData uri="http://schemas.openxmlformats.org/drawingml/2006/table">
            <a:tbl>
              <a:tblPr firstRow="1" bandRow="1">
                <a:tableStyleId>{E8B1032C-EA38-4F05-BA0D-38AFFFC7BED3}</a:tableStyleId>
              </a:tblPr>
              <a:tblGrid>
                <a:gridCol w="3142827">
                  <a:extLst>
                    <a:ext uri="{9D8B030D-6E8A-4147-A177-3AD203B41FA5}">
                      <a16:colId xmlns:a16="http://schemas.microsoft.com/office/drawing/2014/main" val="3617561987"/>
                    </a:ext>
                  </a:extLst>
                </a:gridCol>
                <a:gridCol w="3142827">
                  <a:extLst>
                    <a:ext uri="{9D8B030D-6E8A-4147-A177-3AD203B41FA5}">
                      <a16:colId xmlns:a16="http://schemas.microsoft.com/office/drawing/2014/main" val="2372084682"/>
                    </a:ext>
                  </a:extLst>
                </a:gridCol>
                <a:gridCol w="3142827">
                  <a:extLst>
                    <a:ext uri="{9D8B030D-6E8A-4147-A177-3AD203B41FA5}">
                      <a16:colId xmlns:a16="http://schemas.microsoft.com/office/drawing/2014/main" val="1192850085"/>
                    </a:ext>
                  </a:extLst>
                </a:gridCol>
              </a:tblGrid>
              <a:tr h="360674">
                <a:tc>
                  <a:txBody>
                    <a:bodyPr/>
                    <a:lstStyle/>
                    <a:p>
                      <a:pPr algn="ctr"/>
                      <a:r>
                        <a:rPr lang="en-US" dirty="0"/>
                        <a:t>Feature</a:t>
                      </a:r>
                      <a:endParaRPr lang="en-IN" dirty="0"/>
                    </a:p>
                  </a:txBody>
                  <a:tcPr/>
                </a:tc>
                <a:tc>
                  <a:txBody>
                    <a:bodyPr/>
                    <a:lstStyle/>
                    <a:p>
                      <a:pPr algn="ctr"/>
                      <a:r>
                        <a:rPr lang="en-US" dirty="0"/>
                        <a:t>Generator</a:t>
                      </a:r>
                      <a:endParaRPr lang="en-IN" dirty="0"/>
                    </a:p>
                  </a:txBody>
                  <a:tcPr/>
                </a:tc>
                <a:tc>
                  <a:txBody>
                    <a:bodyPr/>
                    <a:lstStyle/>
                    <a:p>
                      <a:pPr algn="ctr"/>
                      <a:r>
                        <a:rPr lang="en-US" dirty="0"/>
                        <a:t>Iterator</a:t>
                      </a:r>
                      <a:endParaRPr lang="en-IN" dirty="0"/>
                    </a:p>
                  </a:txBody>
                  <a:tcPr/>
                </a:tc>
                <a:extLst>
                  <a:ext uri="{0D108BD9-81ED-4DB2-BD59-A6C34878D82A}">
                    <a16:rowId xmlns:a16="http://schemas.microsoft.com/office/drawing/2014/main" val="2634982055"/>
                  </a:ext>
                </a:extLst>
              </a:tr>
              <a:tr h="370840">
                <a:tc>
                  <a:txBody>
                    <a:bodyPr/>
                    <a:lstStyle/>
                    <a:p>
                      <a:pPr algn="ctr"/>
                      <a:r>
                        <a:rPr lang="en-US" dirty="0">
                          <a:latin typeface="Times New Roman" panose="02020603050405020304" pitchFamily="18" charset="0"/>
                          <a:cs typeface="Times New Roman" panose="02020603050405020304" pitchFamily="18" charset="0"/>
                        </a:rPr>
                        <a:t>Memory Usage</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t>Efficient(Lazy evaluation)</a:t>
                      </a:r>
                      <a:endParaRPr lang="en-IN" dirty="0"/>
                    </a:p>
                  </a:txBody>
                  <a:tcPr/>
                </a:tc>
                <a:tc>
                  <a:txBody>
                    <a:bodyPr/>
                    <a:lstStyle/>
                    <a:p>
                      <a:pPr algn="ctr"/>
                      <a:r>
                        <a:rPr lang="en-US" dirty="0"/>
                        <a:t>Less Efficient</a:t>
                      </a:r>
                      <a:endParaRPr lang="en-IN" dirty="0"/>
                    </a:p>
                  </a:txBody>
                  <a:tcPr/>
                </a:tc>
                <a:extLst>
                  <a:ext uri="{0D108BD9-81ED-4DB2-BD59-A6C34878D82A}">
                    <a16:rowId xmlns:a16="http://schemas.microsoft.com/office/drawing/2014/main" val="4233819345"/>
                  </a:ext>
                </a:extLst>
              </a:tr>
              <a:tr h="370840">
                <a:tc>
                  <a:txBody>
                    <a:bodyPr/>
                    <a:lstStyle/>
                    <a:p>
                      <a:pPr algn="ctr"/>
                      <a:r>
                        <a:rPr lang="en-US" dirty="0"/>
                        <a:t>Creation</a:t>
                      </a:r>
                      <a:endParaRPr lang="en-IN" dirty="0"/>
                    </a:p>
                  </a:txBody>
                  <a:tcPr/>
                </a:tc>
                <a:tc>
                  <a:txBody>
                    <a:bodyPr/>
                    <a:lstStyle/>
                    <a:p>
                      <a:pPr algn="ctr"/>
                      <a:r>
                        <a:rPr lang="en-US" dirty="0"/>
                        <a:t>Using yield in a function</a:t>
                      </a:r>
                      <a:endParaRPr lang="en-IN" dirty="0"/>
                    </a:p>
                  </a:txBody>
                  <a:tcPr/>
                </a:tc>
                <a:tc>
                  <a:txBody>
                    <a:bodyPr/>
                    <a:lstStyle/>
                    <a:p>
                      <a:pPr algn="ctr"/>
                      <a:r>
                        <a:rPr lang="en-US" dirty="0"/>
                        <a:t>Requires separate class</a:t>
                      </a:r>
                      <a:endParaRPr lang="en-IN" dirty="0"/>
                    </a:p>
                  </a:txBody>
                  <a:tcPr/>
                </a:tc>
                <a:extLst>
                  <a:ext uri="{0D108BD9-81ED-4DB2-BD59-A6C34878D82A}">
                    <a16:rowId xmlns:a16="http://schemas.microsoft.com/office/drawing/2014/main" val="1780108851"/>
                  </a:ext>
                </a:extLst>
              </a:tr>
              <a:tr h="370840">
                <a:tc>
                  <a:txBody>
                    <a:bodyPr/>
                    <a:lstStyle/>
                    <a:p>
                      <a:pPr algn="ctr"/>
                      <a:r>
                        <a:rPr lang="en-US" dirty="0"/>
                        <a:t>State Management</a:t>
                      </a:r>
                    </a:p>
                  </a:txBody>
                  <a:tcPr/>
                </a:tc>
                <a:tc>
                  <a:txBody>
                    <a:bodyPr/>
                    <a:lstStyle/>
                    <a:p>
                      <a:pPr algn="ctr"/>
                      <a:r>
                        <a:rPr lang="en-IN" dirty="0"/>
                        <a:t>Automatically handles state</a:t>
                      </a:r>
                    </a:p>
                  </a:txBody>
                  <a:tcPr/>
                </a:tc>
                <a:tc>
                  <a:txBody>
                    <a:bodyPr/>
                    <a:lstStyle/>
                    <a:p>
                      <a:pPr algn="ctr"/>
                      <a:r>
                        <a:rPr lang="en-IN" dirty="0"/>
                        <a:t>Must manage manually</a:t>
                      </a:r>
                    </a:p>
                  </a:txBody>
                  <a:tcPr/>
                </a:tc>
                <a:extLst>
                  <a:ext uri="{0D108BD9-81ED-4DB2-BD59-A6C34878D82A}">
                    <a16:rowId xmlns:a16="http://schemas.microsoft.com/office/drawing/2014/main" val="3096202978"/>
                  </a:ext>
                </a:extLst>
              </a:tr>
            </a:tbl>
          </a:graphicData>
        </a:graphic>
      </p:graphicFrame>
    </p:spTree>
    <p:extLst>
      <p:ext uri="{BB962C8B-B14F-4D97-AF65-F5344CB8AC3E}">
        <p14:creationId xmlns:p14="http://schemas.microsoft.com/office/powerpoint/2010/main" val="22505637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7D5DB-346A-7D7F-7FE3-1B35D310FE5E}"/>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Cont..</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34D1E5D-E03C-5810-2831-37610AB4784B}"/>
              </a:ext>
            </a:extLst>
          </p:cNvPr>
          <p:cNvSpPr>
            <a:spLocks noGrp="1"/>
          </p:cNvSpPr>
          <p:nvPr>
            <p:ph idx="1"/>
          </p:nvPr>
        </p:nvSpPr>
        <p:spPr>
          <a:xfrm>
            <a:off x="838200" y="1690688"/>
            <a:ext cx="10515600" cy="4486275"/>
          </a:xfrm>
        </p:spPr>
        <p:txBody>
          <a:bodyPr>
            <a:normAutofit/>
          </a:bodyPr>
          <a:lstStyle/>
          <a:p>
            <a:r>
              <a:rPr lang="en-US" sz="2400" dirty="0">
                <a:latin typeface="Times New Roman" panose="02020603050405020304" pitchFamily="18" charset="0"/>
                <a:cs typeface="Times New Roman" panose="02020603050405020304" pitchFamily="18" charset="0"/>
              </a:rPr>
              <a:t>When an iterator object is created and you loop over, every time </a:t>
            </a:r>
            <a:r>
              <a:rPr lang="en-US" sz="2400" dirty="0">
                <a:solidFill>
                  <a:schemeClr val="accent1"/>
                </a:solidFill>
                <a:latin typeface="Times New Roman" panose="02020603050405020304" pitchFamily="18" charset="0"/>
                <a:cs typeface="Times New Roman" panose="02020603050405020304" pitchFamily="18" charset="0"/>
              </a:rPr>
              <a:t>_next_ </a:t>
            </a:r>
            <a:r>
              <a:rPr lang="en-US" sz="2400" dirty="0">
                <a:latin typeface="Times New Roman" panose="02020603050405020304" pitchFamily="18" charset="0"/>
                <a:cs typeface="Times New Roman" panose="02020603050405020304" pitchFamily="18" charset="0"/>
              </a:rPr>
              <a:t>hook is called to generate a new value. This makes instance to store the value in member variables until next iteration.</a:t>
            </a:r>
          </a:p>
          <a:p>
            <a:r>
              <a:rPr lang="en-US" sz="2400" dirty="0">
                <a:latin typeface="Times New Roman" panose="02020603050405020304" pitchFamily="18" charset="0"/>
                <a:cs typeface="Times New Roman" panose="02020603050405020304" pitchFamily="18" charset="0"/>
              </a:rPr>
              <a:t>When generator function is called, it returns generator iterator or generator object, it also stores references to </a:t>
            </a:r>
            <a:r>
              <a:rPr lang="en-US" sz="2400" dirty="0" err="1">
                <a:solidFill>
                  <a:schemeClr val="accent1"/>
                </a:solidFill>
                <a:latin typeface="Times New Roman" panose="02020603050405020304" pitchFamily="18" charset="0"/>
                <a:cs typeface="Times New Roman" panose="02020603050405020304" pitchFamily="18" charset="0"/>
              </a:rPr>
              <a:t>args</a:t>
            </a:r>
            <a:r>
              <a:rPr lang="en-US" sz="2400" dirty="0">
                <a:latin typeface="Times New Roman" panose="02020603050405020304" pitchFamily="18" charset="0"/>
                <a:cs typeface="Times New Roman" panose="02020603050405020304" pitchFamily="18" charset="0"/>
              </a:rPr>
              <a:t> in the function state.</a:t>
            </a:r>
          </a:p>
          <a:p>
            <a:r>
              <a:rPr lang="en-US" sz="2400" dirty="0">
                <a:latin typeface="Times New Roman" panose="02020603050405020304" pitchFamily="18" charset="0"/>
                <a:cs typeface="Times New Roman" panose="02020603050405020304" pitchFamily="18" charset="0"/>
              </a:rPr>
              <a:t>Now, when these generator  objects are looped over, function is executed till </a:t>
            </a:r>
            <a:r>
              <a:rPr lang="en-US" sz="2400" dirty="0">
                <a:solidFill>
                  <a:schemeClr val="accent1"/>
                </a:solidFill>
                <a:latin typeface="Times New Roman" panose="02020603050405020304" pitchFamily="18" charset="0"/>
                <a:cs typeface="Times New Roman" panose="02020603050405020304" pitchFamily="18" charset="0"/>
              </a:rPr>
              <a:t>yield </a:t>
            </a:r>
            <a:r>
              <a:rPr lang="en-US" sz="2400" dirty="0">
                <a:latin typeface="Times New Roman" panose="02020603050405020304" pitchFamily="18" charset="0"/>
                <a:cs typeface="Times New Roman" panose="02020603050405020304" pitchFamily="18" charset="0"/>
              </a:rPr>
              <a:t>keyword, value is returned, state of the function including instruction pointer, locals and other parameters are saved until resumed. When they are iterated over again, state is restored. This is much more performance as compared to a calling a function / call back on every iteration.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10685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12547-593B-01B9-14B1-7FDE7D64EFC9}"/>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Benefits: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01FDA85-2A45-478E-EE8D-D7F6F38302E5}"/>
              </a:ext>
            </a:extLst>
          </p:cNvPr>
          <p:cNvSpPr>
            <a:spLocks noGrp="1"/>
          </p:cNvSpPr>
          <p:nvPr>
            <p:ph idx="1"/>
          </p:nvPr>
        </p:nvSpPr>
        <p:spPr/>
        <p:txBody>
          <a:bodyPr>
            <a:normAutofit/>
          </a:bodyPr>
          <a:lstStyle/>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Generators are easy and compact to implement and use.</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Reduces overhead of multiple function calls (no __next__ and __iter__ hooks).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Raises any exception like normal function and get exhausted.</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Can be thrown custom exceptions to exhaust them (throw method), not supported in iterators.</a:t>
            </a:r>
          </a:p>
          <a:p>
            <a:pPr marL="514350" indent="-514350">
              <a:buFont typeface="+mj-lt"/>
              <a:buAutoNum type="arabicPeriod"/>
            </a:pPr>
            <a:r>
              <a:rPr lang="en-US" sz="2400" dirty="0">
                <a:latin typeface="Times New Roman" panose="02020603050405020304" pitchFamily="18" charset="0"/>
                <a:cs typeface="Times New Roman" panose="02020603050405020304" pitchFamily="18" charset="0"/>
              </a:rPr>
              <a:t>Can be used a coroutines and consume values from user.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39342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2638B-7C88-DDF2-6B4C-C5B5DD2DCA09}"/>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Magical </a:t>
            </a:r>
            <a:r>
              <a:rPr lang="en-US" sz="3600" b="1" dirty="0">
                <a:solidFill>
                  <a:srgbClr val="00B0F0"/>
                </a:solidFill>
                <a:latin typeface="Times New Roman" panose="02020603050405020304" pitchFamily="18" charset="0"/>
                <a:cs typeface="Times New Roman" panose="02020603050405020304" pitchFamily="18" charset="0"/>
              </a:rPr>
              <a:t>yield</a:t>
            </a:r>
            <a:r>
              <a:rPr lang="en-US" sz="3600" b="1" dirty="0">
                <a:latin typeface="Times New Roman" panose="02020603050405020304" pitchFamily="18" charset="0"/>
                <a:cs typeface="Times New Roman" panose="02020603050405020304" pitchFamily="18" charset="0"/>
              </a:rPr>
              <a:t> Keyword</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A8DDBA5-9088-D2DC-A35F-AAB89C52BEF9}"/>
              </a:ext>
            </a:extLst>
          </p:cNvPr>
          <p:cNvSpPr>
            <a:spLocks noGrp="1"/>
          </p:cNvSpPr>
          <p:nvPr>
            <p:ph idx="1"/>
          </p:nvPr>
        </p:nvSpPr>
        <p:spPr/>
        <p:txBody>
          <a:bodyPr>
            <a:normAutofit/>
          </a:bodyPr>
          <a:lstStyle/>
          <a:p>
            <a:pPr>
              <a:lnSpc>
                <a:spcPct val="100000"/>
              </a:lnSpc>
            </a:pPr>
            <a:r>
              <a:rPr lang="en-IN" sz="2400" dirty="0">
                <a:solidFill>
                  <a:srgbClr val="00B0F0"/>
                </a:solidFill>
                <a:latin typeface="Times New Roman" panose="02020603050405020304" pitchFamily="18" charset="0"/>
                <a:cs typeface="Times New Roman" panose="02020603050405020304" pitchFamily="18" charset="0"/>
              </a:rPr>
              <a:t> yield </a:t>
            </a:r>
            <a:r>
              <a:rPr lang="en-IN" sz="2400" dirty="0">
                <a:latin typeface="Times New Roman" panose="02020603050405020304" pitchFamily="18" charset="0"/>
                <a:cs typeface="Times New Roman" panose="02020603050405020304" pitchFamily="18" charset="0"/>
              </a:rPr>
              <a:t>is a special keyword in python which turns a normal function into a </a:t>
            </a:r>
            <a:r>
              <a:rPr lang="en-IN" sz="2400" dirty="0">
                <a:solidFill>
                  <a:srgbClr val="00B0F0"/>
                </a:solidFill>
                <a:latin typeface="Times New Roman" panose="02020603050405020304" pitchFamily="18" charset="0"/>
                <a:cs typeface="Times New Roman" panose="02020603050405020304" pitchFamily="18" charset="0"/>
              </a:rPr>
              <a:t>generator</a:t>
            </a:r>
            <a:r>
              <a:rPr lang="en-IN" sz="2400" dirty="0">
                <a:latin typeface="Times New Roman" panose="02020603050405020304" pitchFamily="18" charset="0"/>
                <a:cs typeface="Times New Roman" panose="02020603050405020304" pitchFamily="18" charset="0"/>
              </a:rPr>
              <a:t>.</a:t>
            </a:r>
            <a:r>
              <a:rPr lang="en-IN" sz="2400" dirty="0">
                <a:solidFill>
                  <a:srgbClr val="00B0F0"/>
                </a:solidFill>
                <a:latin typeface="Times New Roman" panose="02020603050405020304" pitchFamily="18" charset="0"/>
                <a:cs typeface="Times New Roman" panose="02020603050405020304" pitchFamily="18" charset="0"/>
              </a:rPr>
              <a:t> yield </a:t>
            </a:r>
            <a:r>
              <a:rPr lang="en-IN" sz="2400" dirty="0">
                <a:latin typeface="Times New Roman" panose="02020603050405020304" pitchFamily="18" charset="0"/>
                <a:cs typeface="Times New Roman" panose="02020603050405020304" pitchFamily="18" charset="0"/>
              </a:rPr>
              <a:t>is also responsible for generating new value, returning the generated value, and suspending the execution until the next iteration.</a:t>
            </a:r>
          </a:p>
          <a:p>
            <a:pPr>
              <a:lnSpc>
                <a:spcPct val="100000"/>
              </a:lnSpc>
            </a:pPr>
            <a:r>
              <a:rPr lang="en-IN" sz="2400" dirty="0">
                <a:solidFill>
                  <a:srgbClr val="00B0F0"/>
                </a:solidFill>
                <a:latin typeface="Times New Roman" panose="02020603050405020304" pitchFamily="18" charset="0"/>
                <a:cs typeface="Times New Roman" panose="02020603050405020304" pitchFamily="18" charset="0"/>
              </a:rPr>
              <a:t>yield</a:t>
            </a:r>
            <a:r>
              <a:rPr lang="en-IN" sz="2400" dirty="0">
                <a:latin typeface="Times New Roman" panose="02020603050405020304" pitchFamily="18" charset="0"/>
                <a:cs typeface="Times New Roman" panose="02020603050405020304" pitchFamily="18" charset="0"/>
              </a:rPr>
              <a:t> is like </a:t>
            </a:r>
            <a:r>
              <a:rPr lang="en-IN" sz="2400" dirty="0">
                <a:solidFill>
                  <a:srgbClr val="00B0F0"/>
                </a:solidFill>
                <a:latin typeface="Times New Roman" panose="02020603050405020304" pitchFamily="18" charset="0"/>
                <a:cs typeface="Times New Roman" panose="02020603050405020304" pitchFamily="18" charset="0"/>
              </a:rPr>
              <a:t>return</a:t>
            </a:r>
            <a:r>
              <a:rPr lang="en-IN" sz="2400" dirty="0">
                <a:latin typeface="Times New Roman" panose="02020603050405020304" pitchFamily="18" charset="0"/>
                <a:cs typeface="Times New Roman" panose="02020603050405020304" pitchFamily="18" charset="0"/>
              </a:rPr>
              <a:t> in python, except that it also saves the state of the function, suspends its execution, and resumes it when called upon.</a:t>
            </a:r>
          </a:p>
          <a:p>
            <a:pPr>
              <a:lnSpc>
                <a:spcPct val="100000"/>
              </a:lnSpc>
            </a:pPr>
            <a:r>
              <a:rPr lang="en-IN" sz="2400" dirty="0">
                <a:solidFill>
                  <a:srgbClr val="00B0F0"/>
                </a:solidFill>
                <a:latin typeface="Times New Roman" panose="02020603050405020304" pitchFamily="18" charset="0"/>
                <a:cs typeface="Times New Roman" panose="02020603050405020304" pitchFamily="18" charset="0"/>
              </a:rPr>
              <a:t>yield </a:t>
            </a:r>
            <a:r>
              <a:rPr lang="en-IN" sz="2400" dirty="0">
                <a:latin typeface="Times New Roman" panose="02020603050405020304" pitchFamily="18" charset="0"/>
                <a:cs typeface="Times New Roman" panose="02020603050405020304" pitchFamily="18" charset="0"/>
              </a:rPr>
              <a:t>can also consume values using </a:t>
            </a:r>
            <a:r>
              <a:rPr lang="en-IN" sz="2400" dirty="0">
                <a:solidFill>
                  <a:srgbClr val="00B0F0"/>
                </a:solidFill>
                <a:latin typeface="Times New Roman" panose="02020603050405020304" pitchFamily="18" charset="0"/>
                <a:cs typeface="Times New Roman" panose="02020603050405020304" pitchFamily="18" charset="0"/>
              </a:rPr>
              <a:t>send() </a:t>
            </a:r>
            <a:r>
              <a:rPr lang="en-IN" sz="2400" dirty="0">
                <a:latin typeface="Times New Roman" panose="02020603050405020304" pitchFamily="18" charset="0"/>
                <a:cs typeface="Times New Roman" panose="02020603050405020304" pitchFamily="18" charset="0"/>
              </a:rPr>
              <a:t>method on </a:t>
            </a:r>
            <a:r>
              <a:rPr lang="en-IN" sz="2400" dirty="0">
                <a:solidFill>
                  <a:srgbClr val="00B0F0"/>
                </a:solidFill>
                <a:latin typeface="Times New Roman" panose="02020603050405020304" pitchFamily="18" charset="0"/>
                <a:cs typeface="Times New Roman" panose="02020603050405020304" pitchFamily="18" charset="0"/>
              </a:rPr>
              <a:t>generator object</a:t>
            </a:r>
            <a:r>
              <a:rPr lang="en-IN"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20828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06DF1-46FD-0E04-5EB9-060CD338564C}"/>
              </a:ext>
            </a:extLst>
          </p:cNvPr>
          <p:cNvSpPr>
            <a:spLocks noGrp="1"/>
          </p:cNvSpPr>
          <p:nvPr>
            <p:ph type="title"/>
          </p:nvPr>
        </p:nvSpPr>
        <p:spPr/>
        <p:txBody>
          <a:bodyPr>
            <a:normAutofit/>
          </a:bodyPr>
          <a:lstStyle/>
          <a:p>
            <a:r>
              <a:rPr lang="en-US" sz="3600" b="1" dirty="0" err="1">
                <a:latin typeface="Times New Roman" panose="02020603050405020304" pitchFamily="18" charset="0"/>
                <a:cs typeface="Times New Roman" panose="02020603050405020304" pitchFamily="18" charset="0"/>
              </a:rPr>
              <a:t>Initalizing</a:t>
            </a:r>
            <a:r>
              <a:rPr lang="en-US" sz="3600" b="1" dirty="0">
                <a:latin typeface="Times New Roman" panose="02020603050405020304" pitchFamily="18" charset="0"/>
                <a:cs typeface="Times New Roman" panose="02020603050405020304" pitchFamily="18" charset="0"/>
              </a:rPr>
              <a:t> a generator</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1FE7EE3-E8F6-6E66-CD5E-4B013EDE0EB6}"/>
              </a:ext>
            </a:extLst>
          </p:cNvPr>
          <p:cNvSpPr>
            <a:spLocks noGrp="1"/>
          </p:cNvSpPr>
          <p:nvPr>
            <p:ph idx="1"/>
          </p:nvPr>
        </p:nvSpPr>
        <p:spPr>
          <a:xfrm>
            <a:off x="838200" y="1586204"/>
            <a:ext cx="10515600" cy="4590759"/>
          </a:xfrm>
        </p:spPr>
        <p:txBody>
          <a:bodyPr>
            <a:normAutofit/>
          </a:bodyPr>
          <a:lstStyle/>
          <a:p>
            <a:r>
              <a:rPr lang="en-US" sz="2400" dirty="0">
                <a:latin typeface="Times New Roman" panose="02020603050405020304" pitchFamily="18" charset="0"/>
                <a:cs typeface="Times New Roman" panose="02020603050405020304" pitchFamily="18" charset="0"/>
              </a:rPr>
              <a:t>When we call a generator function, it returns a </a:t>
            </a:r>
            <a:r>
              <a:rPr lang="en-US" sz="2400" dirty="0">
                <a:solidFill>
                  <a:srgbClr val="00B0F0"/>
                </a:solidFill>
                <a:latin typeface="Times New Roman" panose="02020603050405020304" pitchFamily="18" charset="0"/>
                <a:cs typeface="Times New Roman" panose="02020603050405020304" pitchFamily="18" charset="0"/>
              </a:rPr>
              <a:t>generator object</a:t>
            </a:r>
            <a:r>
              <a:rPr lang="en-US" sz="2400" dirty="0">
                <a:latin typeface="Times New Roman" panose="02020603050405020304" pitchFamily="18" charset="0"/>
                <a:cs typeface="Times New Roman" panose="02020603050405020304" pitchFamily="18" charset="0"/>
              </a:rPr>
              <a:t> that can be stored in a variable.</a:t>
            </a:r>
          </a:p>
          <a:p>
            <a:r>
              <a:rPr lang="en-US" sz="2400" dirty="0">
                <a:latin typeface="Times New Roman" panose="02020603050405020304" pitchFamily="18" charset="0"/>
                <a:cs typeface="Times New Roman" panose="02020603050405020304" pitchFamily="18" charset="0"/>
              </a:rPr>
              <a:t>When we call </a:t>
            </a:r>
            <a:r>
              <a:rPr lang="en-US" sz="2400" dirty="0">
                <a:solidFill>
                  <a:srgbClr val="00B0F0"/>
                </a:solidFill>
                <a:latin typeface="Times New Roman" panose="02020603050405020304" pitchFamily="18" charset="0"/>
                <a:cs typeface="Times New Roman" panose="02020603050405020304" pitchFamily="18" charset="0"/>
              </a:rPr>
              <a:t>next() </a:t>
            </a:r>
            <a:r>
              <a:rPr lang="en-US" sz="2400" dirty="0">
                <a:latin typeface="Times New Roman" panose="02020603050405020304" pitchFamily="18" charset="0"/>
                <a:cs typeface="Times New Roman" panose="02020603050405020304" pitchFamily="18" charset="0"/>
              </a:rPr>
              <a:t>on this generator object, it initializes generator object, execution starts and suspends till it reaches the </a:t>
            </a:r>
            <a:r>
              <a:rPr lang="en-US" sz="2400" dirty="0">
                <a:solidFill>
                  <a:srgbClr val="00B0F0"/>
                </a:solidFill>
                <a:latin typeface="Times New Roman" panose="02020603050405020304" pitchFamily="18" charset="0"/>
                <a:cs typeface="Times New Roman" panose="02020603050405020304" pitchFamily="18" charset="0"/>
              </a:rPr>
              <a:t>yield</a:t>
            </a:r>
            <a:r>
              <a:rPr lang="en-US" sz="2400" dirty="0">
                <a:latin typeface="Times New Roman" panose="02020603050405020304" pitchFamily="18" charset="0"/>
                <a:cs typeface="Times New Roman" panose="02020603050405020304" pitchFamily="18" charset="0"/>
              </a:rPr>
              <a:t> keyword.</a:t>
            </a:r>
          </a:p>
          <a:p>
            <a:r>
              <a:rPr lang="en-US" sz="2400" b="1" dirty="0">
                <a:latin typeface="Times New Roman" panose="02020603050405020304" pitchFamily="18" charset="0"/>
                <a:cs typeface="Times New Roman" panose="02020603050405020304" pitchFamily="18" charset="0"/>
              </a:rPr>
              <a:t>Note: </a:t>
            </a:r>
            <a:r>
              <a:rPr lang="en-US" sz="2400" dirty="0">
                <a:latin typeface="Times New Roman" panose="02020603050405020304" pitchFamily="18" charset="0"/>
                <a:cs typeface="Times New Roman" panose="02020603050405020304" pitchFamily="18" charset="0"/>
              </a:rPr>
              <a:t>we will need to initialize the generator object by calling the </a:t>
            </a:r>
            <a:r>
              <a:rPr lang="en-US" sz="2400" dirty="0">
                <a:solidFill>
                  <a:srgbClr val="00B0F0"/>
                </a:solidFill>
                <a:latin typeface="Times New Roman" panose="02020603050405020304" pitchFamily="18" charset="0"/>
                <a:cs typeface="Times New Roman" panose="02020603050405020304" pitchFamily="18" charset="0"/>
              </a:rPr>
              <a:t>next</a:t>
            </a:r>
            <a:r>
              <a:rPr lang="en-US" sz="2400" dirty="0">
                <a:latin typeface="Times New Roman" panose="02020603050405020304" pitchFamily="18" charset="0"/>
                <a:cs typeface="Times New Roman" panose="02020603050405020304" pitchFamily="18" charset="0"/>
              </a:rPr>
              <a:t> method before we can use the </a:t>
            </a:r>
            <a:r>
              <a:rPr lang="en-US" sz="2400" dirty="0">
                <a:solidFill>
                  <a:srgbClr val="00B0F0"/>
                </a:solidFill>
                <a:latin typeface="Times New Roman" panose="02020603050405020304" pitchFamily="18" charset="0"/>
                <a:cs typeface="Times New Roman" panose="02020603050405020304" pitchFamily="18" charset="0"/>
              </a:rPr>
              <a:t>send(), throw() and close() </a:t>
            </a:r>
            <a:r>
              <a:rPr lang="en-US" sz="2400" dirty="0">
                <a:latin typeface="Times New Roman" panose="02020603050405020304" pitchFamily="18" charset="0"/>
                <a:cs typeface="Times New Roman" panose="02020603050405020304" pitchFamily="18" charset="0"/>
              </a:rPr>
              <a:t>methods.</a:t>
            </a:r>
          </a:p>
          <a:p>
            <a:r>
              <a:rPr lang="en-US" sz="2400" b="1" dirty="0">
                <a:latin typeface="Times New Roman" panose="02020603050405020304" pitchFamily="18" charset="0"/>
                <a:cs typeface="Times New Roman" panose="02020603050405020304" pitchFamily="18" charset="0"/>
              </a:rPr>
              <a:t>send() method: </a:t>
            </a:r>
            <a:r>
              <a:rPr lang="en-US" sz="2400" dirty="0">
                <a:latin typeface="Times New Roman" panose="02020603050405020304" pitchFamily="18" charset="0"/>
                <a:cs typeface="Times New Roman" panose="02020603050405020304" pitchFamily="18" charset="0"/>
              </a:rPr>
              <a:t>Used to send values into a generator.</a:t>
            </a:r>
          </a:p>
          <a:p>
            <a:r>
              <a:rPr lang="en-US" sz="2400" b="1" dirty="0">
                <a:latin typeface="Times New Roman" panose="02020603050405020304" pitchFamily="18" charset="0"/>
                <a:cs typeface="Times New Roman" panose="02020603050405020304" pitchFamily="18" charset="0"/>
              </a:rPr>
              <a:t>close() method: </a:t>
            </a:r>
            <a:r>
              <a:rPr lang="en-US" sz="2400" dirty="0">
                <a:latin typeface="Times New Roman" panose="02020603050405020304" pitchFamily="18" charset="0"/>
                <a:cs typeface="Times New Roman" panose="02020603050405020304" pitchFamily="18" charset="0"/>
              </a:rPr>
              <a:t>Used to close the generator when it’s no longer needed.</a:t>
            </a:r>
          </a:p>
          <a:p>
            <a:r>
              <a:rPr lang="en-US" sz="2400" b="1" dirty="0">
                <a:latin typeface="Times New Roman" panose="02020603050405020304" pitchFamily="18" charset="0"/>
                <a:cs typeface="Times New Roman" panose="02020603050405020304" pitchFamily="18" charset="0"/>
              </a:rPr>
              <a:t>throw() method: </a:t>
            </a:r>
            <a:r>
              <a:rPr lang="en-US" sz="2400" dirty="0">
                <a:latin typeface="Times New Roman" panose="02020603050405020304" pitchFamily="18" charset="0"/>
                <a:cs typeface="Times New Roman" panose="02020603050405020304" pitchFamily="18" charset="0"/>
              </a:rPr>
              <a:t>Allows you to raise an exception inside a generator.</a:t>
            </a:r>
          </a:p>
        </p:txBody>
      </p:sp>
    </p:spTree>
    <p:extLst>
      <p:ext uri="{BB962C8B-B14F-4D97-AF65-F5344CB8AC3E}">
        <p14:creationId xmlns:p14="http://schemas.microsoft.com/office/powerpoint/2010/main" val="2932760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AB4AC-DA6E-7A17-96B6-83E15D4BA8D2}"/>
              </a:ext>
            </a:extLst>
          </p:cNvPr>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Example of </a:t>
            </a:r>
            <a:r>
              <a:rPr lang="en-US" sz="4000" b="1" dirty="0">
                <a:solidFill>
                  <a:srgbClr val="00B0F0"/>
                </a:solidFill>
                <a:latin typeface="Times New Roman" panose="02020603050405020304" pitchFamily="18" charset="0"/>
                <a:cs typeface="Times New Roman" panose="02020603050405020304" pitchFamily="18" charset="0"/>
              </a:rPr>
              <a:t>send() </a:t>
            </a:r>
            <a:r>
              <a:rPr lang="en-US" sz="4000" b="1" dirty="0">
                <a:latin typeface="Times New Roman" panose="02020603050405020304" pitchFamily="18" charset="0"/>
                <a:cs typeface="Times New Roman" panose="02020603050405020304" pitchFamily="18" charset="0"/>
              </a:rPr>
              <a:t>method</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9F0B82-677A-8E7A-2069-E0D2C3BF1F88}"/>
              </a:ext>
            </a:extLst>
          </p:cNvPr>
          <p:cNvSpPr>
            <a:spLocks noGrp="1"/>
          </p:cNvSpPr>
          <p:nvPr>
            <p:ph idx="1"/>
          </p:nvPr>
        </p:nvSpPr>
        <p:spPr/>
        <p:txBody>
          <a:bodyPr/>
          <a:lstStyle/>
          <a:p>
            <a:pPr marL="0" indent="0">
              <a:buNone/>
            </a:pPr>
            <a:r>
              <a:rPr lang="en-US"/>
              <a:t> </a:t>
            </a:r>
            <a:endParaRPr lang="en-IN" dirty="0"/>
          </a:p>
        </p:txBody>
      </p:sp>
      <p:pic>
        <p:nvPicPr>
          <p:cNvPr id="5" name="Picture 4">
            <a:extLst>
              <a:ext uri="{FF2B5EF4-FFF2-40B4-BE49-F238E27FC236}">
                <a16:creationId xmlns:a16="http://schemas.microsoft.com/office/drawing/2014/main" id="{A2C1CCD0-D06D-7958-2EB8-BDD797A378F2}"/>
              </a:ext>
            </a:extLst>
          </p:cNvPr>
          <p:cNvPicPr>
            <a:picLocks noChangeAspect="1"/>
          </p:cNvPicPr>
          <p:nvPr/>
        </p:nvPicPr>
        <p:blipFill>
          <a:blip r:embed="rId2"/>
          <a:stretch>
            <a:fillRect/>
          </a:stretch>
        </p:blipFill>
        <p:spPr>
          <a:xfrm>
            <a:off x="838200" y="1690688"/>
            <a:ext cx="9619861" cy="3002610"/>
          </a:xfrm>
          <a:prstGeom prst="rect">
            <a:avLst/>
          </a:prstGeom>
        </p:spPr>
      </p:pic>
    </p:spTree>
    <p:extLst>
      <p:ext uri="{BB962C8B-B14F-4D97-AF65-F5344CB8AC3E}">
        <p14:creationId xmlns:p14="http://schemas.microsoft.com/office/powerpoint/2010/main" val="17655384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1CA7C-B7DE-DDF0-A3FB-50CAA8AB838A}"/>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Facts about Generators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A0BD55-2F86-7901-B197-0B99101FCB05}"/>
              </a:ext>
            </a:extLst>
          </p:cNvPr>
          <p:cNvSpPr>
            <a:spLocks noGrp="1"/>
          </p:cNvSpPr>
          <p:nvPr>
            <p:ph idx="1"/>
          </p:nvPr>
        </p:nvSpPr>
        <p:spPr/>
        <p:txBody>
          <a:bodyPr>
            <a:normAutofit/>
          </a:bodyPr>
          <a:lstStyle/>
          <a:p>
            <a:r>
              <a:rPr lang="en-US" sz="2400" dirty="0">
                <a:solidFill>
                  <a:schemeClr val="accent1"/>
                </a:solidFill>
                <a:latin typeface="Times New Roman" panose="02020603050405020304" pitchFamily="18" charset="0"/>
                <a:cs typeface="Times New Roman" panose="02020603050405020304" pitchFamily="18" charset="0"/>
              </a:rPr>
              <a:t>Generators</a:t>
            </a:r>
            <a:r>
              <a:rPr lang="en-US" sz="2400" dirty="0">
                <a:latin typeface="Times New Roman" panose="02020603050405020304" pitchFamily="18" charset="0"/>
                <a:cs typeface="Times New Roman" panose="02020603050405020304" pitchFamily="18" charset="0"/>
              </a:rPr>
              <a:t> also get exhausted like an </a:t>
            </a:r>
            <a:r>
              <a:rPr lang="en-US" sz="2400" dirty="0">
                <a:solidFill>
                  <a:schemeClr val="accent1"/>
                </a:solidFill>
                <a:latin typeface="Times New Roman" panose="02020603050405020304" pitchFamily="18" charset="0"/>
                <a:cs typeface="Times New Roman" panose="02020603050405020304" pitchFamily="18" charset="0"/>
              </a:rPr>
              <a:t>iterator</a:t>
            </a:r>
            <a:r>
              <a:rPr lang="en-US" sz="2400" dirty="0">
                <a:latin typeface="Times New Roman" panose="02020603050405020304" pitchFamily="18" charset="0"/>
                <a:cs typeface="Times New Roman" panose="02020603050405020304" pitchFamily="18" charset="0"/>
              </a:rPr>
              <a:t> object and raise the </a:t>
            </a:r>
            <a:r>
              <a:rPr lang="en-US" sz="2400" dirty="0" err="1">
                <a:solidFill>
                  <a:schemeClr val="accent1"/>
                </a:solidFill>
                <a:latin typeface="Times New Roman" panose="02020603050405020304" pitchFamily="18" charset="0"/>
                <a:cs typeface="Times New Roman" panose="02020603050405020304" pitchFamily="18" charset="0"/>
              </a:rPr>
              <a:t>StopIteration</a:t>
            </a:r>
            <a:r>
              <a:rPr lang="en-US" sz="2400" dirty="0">
                <a:solidFill>
                  <a:schemeClr val="accent1"/>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Exception. When looped over, this </a:t>
            </a:r>
            <a:r>
              <a:rPr lang="en-US" sz="2400" dirty="0" err="1">
                <a:latin typeface="Times New Roman" panose="02020603050405020304" pitchFamily="18" charset="0"/>
                <a:cs typeface="Times New Roman" panose="02020603050405020304" pitchFamily="18" charset="0"/>
              </a:rPr>
              <a:t>exeception</a:t>
            </a:r>
            <a:r>
              <a:rPr lang="en-US" sz="2400" dirty="0">
                <a:latin typeface="Times New Roman" panose="02020603050405020304" pitchFamily="18" charset="0"/>
                <a:cs typeface="Times New Roman" panose="02020603050405020304" pitchFamily="18" charset="0"/>
              </a:rPr>
              <a:t> is automatically handled by construct.</a:t>
            </a:r>
          </a:p>
          <a:p>
            <a:r>
              <a:rPr lang="en-US" sz="2400" dirty="0">
                <a:solidFill>
                  <a:schemeClr val="accent1"/>
                </a:solidFill>
                <a:latin typeface="Times New Roman" panose="02020603050405020304" pitchFamily="18" charset="0"/>
                <a:cs typeface="Times New Roman" panose="02020603050405020304" pitchFamily="18" charset="0"/>
              </a:rPr>
              <a:t>Generator objects </a:t>
            </a:r>
            <a:r>
              <a:rPr lang="en-US" sz="2400" dirty="0">
                <a:latin typeface="Times New Roman" panose="02020603050405020304" pitchFamily="18" charset="0"/>
                <a:cs typeface="Times New Roman" panose="02020603050405020304" pitchFamily="18" charset="0"/>
              </a:rPr>
              <a:t>can only be used once i.e. they cannot be reused once exhausted.</a:t>
            </a:r>
          </a:p>
          <a:p>
            <a:r>
              <a:rPr lang="en-US" sz="2400" b="1" dirty="0">
                <a:latin typeface="Times New Roman" panose="02020603050405020304" pitchFamily="18" charset="0"/>
                <a:cs typeface="Times New Roman" panose="02020603050405020304" pitchFamily="18" charset="0"/>
              </a:rPr>
              <a:t>Note: </a:t>
            </a:r>
            <a:r>
              <a:rPr lang="en-US" sz="2400" dirty="0" err="1">
                <a:solidFill>
                  <a:schemeClr val="accent1"/>
                </a:solidFill>
                <a:latin typeface="Times New Roman" panose="02020603050405020304" pitchFamily="18" charset="0"/>
                <a:cs typeface="Times New Roman" panose="02020603050405020304" pitchFamily="18" charset="0"/>
              </a:rPr>
              <a:t>StopIteration</a:t>
            </a:r>
            <a:r>
              <a:rPr lang="en-US" sz="2400" dirty="0">
                <a:solidFill>
                  <a:schemeClr val="accent1"/>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is a natural exception that’s raised to signal the end of an iterator.</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0471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E9343-793C-05AD-5BA4-0033F35C33FA}"/>
              </a:ext>
            </a:extLst>
          </p:cNvPr>
          <p:cNvSpPr>
            <a:spLocks noGrp="1"/>
          </p:cNvSpPr>
          <p:nvPr>
            <p:ph type="title"/>
          </p:nvPr>
        </p:nvSpPr>
        <p:spPr/>
        <p:txBody>
          <a:bodyPr>
            <a:normAutofit/>
          </a:bodyPr>
          <a:lstStyle/>
          <a:p>
            <a:r>
              <a:rPr lang="en-US" sz="3600" b="1" dirty="0" err="1">
                <a:latin typeface="Times New Roman" panose="02020603050405020304" pitchFamily="18" charset="0"/>
                <a:cs typeface="Times New Roman" panose="02020603050405020304" pitchFamily="18" charset="0"/>
              </a:rPr>
              <a:t>StopIteration</a:t>
            </a:r>
            <a:r>
              <a:rPr lang="en-US" sz="3600" b="1" dirty="0">
                <a:latin typeface="Times New Roman" panose="02020603050405020304" pitchFamily="18" charset="0"/>
                <a:cs typeface="Times New Roman" panose="02020603050405020304" pitchFamily="18" charset="0"/>
              </a:rPr>
              <a:t> Example</a:t>
            </a:r>
            <a:endParaRPr lang="en-IN" sz="3600" b="1"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2AAA554-4245-BAC8-70A3-477B3D976B16}"/>
              </a:ext>
            </a:extLst>
          </p:cNvPr>
          <p:cNvPicPr>
            <a:picLocks noGrp="1" noChangeAspect="1"/>
          </p:cNvPicPr>
          <p:nvPr>
            <p:ph idx="1"/>
          </p:nvPr>
        </p:nvPicPr>
        <p:blipFill>
          <a:blip r:embed="rId2"/>
          <a:stretch>
            <a:fillRect/>
          </a:stretch>
        </p:blipFill>
        <p:spPr>
          <a:xfrm>
            <a:off x="976701" y="1359094"/>
            <a:ext cx="9081602" cy="4351338"/>
          </a:xfrm>
        </p:spPr>
      </p:pic>
    </p:spTree>
    <p:extLst>
      <p:ext uri="{BB962C8B-B14F-4D97-AF65-F5344CB8AC3E}">
        <p14:creationId xmlns:p14="http://schemas.microsoft.com/office/powerpoint/2010/main" val="5366535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3CA7DD-1CD7-2095-6EE4-AC52E1D72253}"/>
              </a:ext>
            </a:extLst>
          </p:cNvPr>
          <p:cNvSpPr>
            <a:spLocks noGrp="1"/>
          </p:cNvSpPr>
          <p:nvPr>
            <p:ph type="title"/>
          </p:nvPr>
        </p:nvSpPr>
        <p:spPr/>
        <p:txBody>
          <a:bodyPr>
            <a:normAutofit/>
          </a:bodyPr>
          <a:lstStyle/>
          <a:p>
            <a:pPr algn="ctr"/>
            <a:r>
              <a:rPr lang="en-US" sz="4000" b="1" dirty="0">
                <a:latin typeface="Times New Roman" panose="02020603050405020304" pitchFamily="18" charset="0"/>
                <a:cs typeface="Times New Roman" panose="02020603050405020304" pitchFamily="18" charset="0"/>
              </a:rPr>
              <a:t>Real Time Activities &amp; their Generators</a:t>
            </a:r>
            <a:endParaRPr lang="en-IN" sz="4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6FA8A3F-BE8F-3B14-9973-AB766F7C28E1}"/>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Here’s a table with Real time activities and their Use Cases.</a:t>
            </a:r>
          </a:p>
          <a:p>
            <a:pPr marL="0" indent="0">
              <a:buNone/>
            </a:pPr>
            <a:endParaRPr lang="en-IN" sz="240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529DE6B2-53DD-0803-0FA7-DF23D3F18FEE}"/>
              </a:ext>
            </a:extLst>
          </p:cNvPr>
          <p:cNvGraphicFramePr>
            <a:graphicFrameLocks noGrp="1"/>
          </p:cNvGraphicFramePr>
          <p:nvPr>
            <p:extLst>
              <p:ext uri="{D42A27DB-BD31-4B8C-83A1-F6EECF244321}">
                <p14:modId xmlns:p14="http://schemas.microsoft.com/office/powerpoint/2010/main" val="2475367786"/>
              </p:ext>
            </p:extLst>
          </p:nvPr>
        </p:nvGraphicFramePr>
        <p:xfrm>
          <a:off x="1210907" y="2422843"/>
          <a:ext cx="9099420" cy="2931160"/>
        </p:xfrm>
        <a:graphic>
          <a:graphicData uri="http://schemas.openxmlformats.org/drawingml/2006/table">
            <a:tbl>
              <a:tblPr firstRow="1" bandRow="1">
                <a:tableStyleId>{5C22544A-7EE6-4342-B048-85BDC9FD1C3A}</a:tableStyleId>
              </a:tblPr>
              <a:tblGrid>
                <a:gridCol w="1415349">
                  <a:extLst>
                    <a:ext uri="{9D8B030D-6E8A-4147-A177-3AD203B41FA5}">
                      <a16:colId xmlns:a16="http://schemas.microsoft.com/office/drawing/2014/main" val="531619455"/>
                    </a:ext>
                  </a:extLst>
                </a:gridCol>
                <a:gridCol w="3725044">
                  <a:extLst>
                    <a:ext uri="{9D8B030D-6E8A-4147-A177-3AD203B41FA5}">
                      <a16:colId xmlns:a16="http://schemas.microsoft.com/office/drawing/2014/main" val="2434330910"/>
                    </a:ext>
                  </a:extLst>
                </a:gridCol>
                <a:gridCol w="3959027">
                  <a:extLst>
                    <a:ext uri="{9D8B030D-6E8A-4147-A177-3AD203B41FA5}">
                      <a16:colId xmlns:a16="http://schemas.microsoft.com/office/drawing/2014/main" val="2190130874"/>
                    </a:ext>
                  </a:extLst>
                </a:gridCol>
              </a:tblGrid>
              <a:tr h="370840">
                <a:tc>
                  <a:txBody>
                    <a:bodyPr/>
                    <a:lstStyle/>
                    <a:p>
                      <a:pPr algn="ctr"/>
                      <a:r>
                        <a:rPr lang="en-US" dirty="0" err="1"/>
                        <a:t>S.No</a:t>
                      </a:r>
                      <a:endParaRPr lang="en-IN" dirty="0"/>
                    </a:p>
                  </a:txBody>
                  <a:tcPr/>
                </a:tc>
                <a:tc>
                  <a:txBody>
                    <a:bodyPr/>
                    <a:lstStyle/>
                    <a:p>
                      <a:pPr algn="ctr"/>
                      <a:r>
                        <a:rPr lang="en-US" dirty="0"/>
                        <a:t>Activity</a:t>
                      </a:r>
                      <a:endParaRPr lang="en-IN" dirty="0"/>
                    </a:p>
                  </a:txBody>
                  <a:tcPr/>
                </a:tc>
                <a:tc>
                  <a:txBody>
                    <a:bodyPr/>
                    <a:lstStyle/>
                    <a:p>
                      <a:pPr algn="ctr"/>
                      <a:r>
                        <a:rPr lang="en-US" dirty="0"/>
                        <a:t>Generator Use Case</a:t>
                      </a:r>
                      <a:endParaRPr lang="en-IN" dirty="0"/>
                    </a:p>
                  </a:txBody>
                  <a:tcPr/>
                </a:tc>
                <a:extLst>
                  <a:ext uri="{0D108BD9-81ED-4DB2-BD59-A6C34878D82A}">
                    <a16:rowId xmlns:a16="http://schemas.microsoft.com/office/drawing/2014/main" val="2938411315"/>
                  </a:ext>
                </a:extLst>
              </a:tr>
              <a:tr h="370840">
                <a:tc>
                  <a:txBody>
                    <a:bodyPr/>
                    <a:lstStyle/>
                    <a:p>
                      <a:pPr algn="ctr"/>
                      <a:r>
                        <a:rPr lang="en-US" dirty="0"/>
                        <a:t>1.</a:t>
                      </a:r>
                      <a:endParaRPr lang="en-IN" dirty="0"/>
                    </a:p>
                  </a:txBody>
                  <a:tcPr/>
                </a:tc>
                <a:tc>
                  <a:txBody>
                    <a:bodyPr/>
                    <a:lstStyle/>
                    <a:p>
                      <a:pPr algn="ctr"/>
                      <a:r>
                        <a:rPr lang="en-US" dirty="0"/>
                        <a:t>Fibonacci Series</a:t>
                      </a:r>
                      <a:endParaRPr lang="en-IN" dirty="0"/>
                    </a:p>
                  </a:txBody>
                  <a:tcPr/>
                </a:tc>
                <a:tc>
                  <a:txBody>
                    <a:bodyPr/>
                    <a:lstStyle/>
                    <a:p>
                      <a:pPr algn="l"/>
                      <a:r>
                        <a:rPr lang="en-US" dirty="0"/>
                        <a:t>A Generator that produces Fibonacci numbers.</a:t>
                      </a:r>
                      <a:endParaRPr lang="en-IN" dirty="0"/>
                    </a:p>
                  </a:txBody>
                  <a:tcPr/>
                </a:tc>
                <a:extLst>
                  <a:ext uri="{0D108BD9-81ED-4DB2-BD59-A6C34878D82A}">
                    <a16:rowId xmlns:a16="http://schemas.microsoft.com/office/drawing/2014/main" val="4057852301"/>
                  </a:ext>
                </a:extLst>
              </a:tr>
              <a:tr h="370840">
                <a:tc>
                  <a:txBody>
                    <a:bodyPr/>
                    <a:lstStyle/>
                    <a:p>
                      <a:pPr algn="ctr"/>
                      <a:r>
                        <a:rPr lang="en-US" dirty="0"/>
                        <a:t>2.</a:t>
                      </a:r>
                      <a:endParaRPr lang="en-IN" dirty="0"/>
                    </a:p>
                  </a:txBody>
                  <a:tcPr/>
                </a:tc>
                <a:tc>
                  <a:txBody>
                    <a:bodyPr/>
                    <a:lstStyle/>
                    <a:p>
                      <a:pPr algn="ctr"/>
                      <a:r>
                        <a:rPr lang="en-US" dirty="0"/>
                        <a:t>Movie Ticket Booking</a:t>
                      </a:r>
                      <a:endParaRPr lang="en-IN" dirty="0"/>
                    </a:p>
                  </a:txBody>
                  <a:tcPr/>
                </a:tc>
                <a:tc>
                  <a:txBody>
                    <a:bodyPr/>
                    <a:lstStyle/>
                    <a:p>
                      <a:pPr algn="l"/>
                      <a:r>
                        <a:rPr lang="en-US" dirty="0"/>
                        <a:t>A Generator that assigns seat numbers to customers.</a:t>
                      </a:r>
                      <a:endParaRPr lang="en-IN" dirty="0"/>
                    </a:p>
                  </a:txBody>
                  <a:tcPr/>
                </a:tc>
                <a:extLst>
                  <a:ext uri="{0D108BD9-81ED-4DB2-BD59-A6C34878D82A}">
                    <a16:rowId xmlns:a16="http://schemas.microsoft.com/office/drawing/2014/main" val="247315749"/>
                  </a:ext>
                </a:extLst>
              </a:tr>
              <a:tr h="370840">
                <a:tc>
                  <a:txBody>
                    <a:bodyPr/>
                    <a:lstStyle/>
                    <a:p>
                      <a:pPr algn="ctr"/>
                      <a:r>
                        <a:rPr lang="en-US" dirty="0"/>
                        <a:t>3.</a:t>
                      </a:r>
                      <a:endParaRPr lang="en-IN" dirty="0"/>
                    </a:p>
                  </a:txBody>
                  <a:tcPr/>
                </a:tc>
                <a:tc>
                  <a:txBody>
                    <a:bodyPr/>
                    <a:lstStyle/>
                    <a:p>
                      <a:pPr algn="ctr"/>
                      <a:r>
                        <a:rPr lang="en-US" dirty="0"/>
                        <a:t>Traffic Light System</a:t>
                      </a:r>
                      <a:endParaRPr lang="en-IN" dirty="0"/>
                    </a:p>
                  </a:txBody>
                  <a:tcPr/>
                </a:tc>
                <a:tc>
                  <a:txBody>
                    <a:bodyPr/>
                    <a:lstStyle/>
                    <a:p>
                      <a:pPr algn="l"/>
                      <a:r>
                        <a:rPr lang="en-US" dirty="0"/>
                        <a:t>A Generator that Continuously cycles through traffic lights.</a:t>
                      </a:r>
                      <a:endParaRPr lang="en-IN" dirty="0"/>
                    </a:p>
                  </a:txBody>
                  <a:tcPr/>
                </a:tc>
                <a:extLst>
                  <a:ext uri="{0D108BD9-81ED-4DB2-BD59-A6C34878D82A}">
                    <a16:rowId xmlns:a16="http://schemas.microsoft.com/office/drawing/2014/main" val="3663652465"/>
                  </a:ext>
                </a:extLst>
              </a:tr>
              <a:tr h="370840">
                <a:tc>
                  <a:txBody>
                    <a:bodyPr/>
                    <a:lstStyle/>
                    <a:p>
                      <a:pPr algn="ctr"/>
                      <a:r>
                        <a:rPr lang="en-US" dirty="0"/>
                        <a:t>4.</a:t>
                      </a:r>
                      <a:endParaRPr lang="en-IN" dirty="0"/>
                    </a:p>
                  </a:txBody>
                  <a:tcPr/>
                </a:tc>
                <a:tc>
                  <a:txBody>
                    <a:bodyPr/>
                    <a:lstStyle/>
                    <a:p>
                      <a:pPr algn="ctr"/>
                      <a:r>
                        <a:rPr lang="en-US" dirty="0"/>
                        <a:t>ATM Cash Dispenses</a:t>
                      </a:r>
                      <a:endParaRPr lang="en-IN" dirty="0"/>
                    </a:p>
                  </a:txBody>
                  <a:tcPr/>
                </a:tc>
                <a:tc>
                  <a:txBody>
                    <a:bodyPr/>
                    <a:lstStyle/>
                    <a:p>
                      <a:pPr algn="l"/>
                      <a:r>
                        <a:rPr lang="en-US" dirty="0"/>
                        <a:t>A Generator that dispenses cash in 100’s, 500’s and 2000’s.</a:t>
                      </a:r>
                      <a:endParaRPr lang="en-IN" dirty="0"/>
                    </a:p>
                  </a:txBody>
                  <a:tcPr/>
                </a:tc>
                <a:extLst>
                  <a:ext uri="{0D108BD9-81ED-4DB2-BD59-A6C34878D82A}">
                    <a16:rowId xmlns:a16="http://schemas.microsoft.com/office/drawing/2014/main" val="1293273191"/>
                  </a:ext>
                </a:extLst>
              </a:tr>
            </a:tbl>
          </a:graphicData>
        </a:graphic>
      </p:graphicFrame>
    </p:spTree>
    <p:extLst>
      <p:ext uri="{BB962C8B-B14F-4D97-AF65-F5344CB8AC3E}">
        <p14:creationId xmlns:p14="http://schemas.microsoft.com/office/powerpoint/2010/main" val="26982373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D4747-2978-FEB3-64A6-2320FF01D586}"/>
              </a:ext>
            </a:extLst>
          </p:cNvPr>
          <p:cNvSpPr>
            <a:spLocks noGrp="1"/>
          </p:cNvSpPr>
          <p:nvPr>
            <p:ph type="title"/>
          </p:nvPr>
        </p:nvSpPr>
        <p:spPr/>
        <p:txBody>
          <a:bodyPr>
            <a:normAutofit/>
          </a:bodyPr>
          <a:lstStyle/>
          <a:p>
            <a:r>
              <a:rPr lang="en-US" sz="4000" b="1" dirty="0">
                <a:solidFill>
                  <a:srgbClr val="00B050"/>
                </a:solidFill>
                <a:latin typeface="Times New Roman" panose="02020603050405020304" pitchFamily="18" charset="0"/>
                <a:cs typeface="Times New Roman" panose="02020603050405020304" pitchFamily="18" charset="0"/>
              </a:rPr>
              <a:t>1.Generating Fibonacci Series.</a:t>
            </a:r>
            <a:endParaRPr lang="en-IN" sz="40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96A129-BA95-A5F4-CE37-56F43A5B208C}"/>
              </a:ext>
            </a:extLst>
          </p:cNvPr>
          <p:cNvSpPr>
            <a:spLocks noGrp="1"/>
          </p:cNvSpPr>
          <p:nvPr>
            <p:ph idx="1"/>
          </p:nvPr>
        </p:nvSpPr>
        <p:spPr>
          <a:xfrm>
            <a:off x="922175" y="1517714"/>
            <a:ext cx="10515600" cy="4351338"/>
          </a:xfrm>
        </p:spPr>
        <p:txBody>
          <a:bodyPr>
            <a:noAutofit/>
          </a:bodyPr>
          <a:lstStyle/>
          <a:p>
            <a:pPr marL="0" indent="0">
              <a:buNone/>
            </a:pPr>
            <a:r>
              <a:rPr lang="en-US" sz="2000" b="1" dirty="0">
                <a:solidFill>
                  <a:srgbClr val="FF0000"/>
                </a:solidFill>
                <a:latin typeface="Times New Roman" panose="02020603050405020304" pitchFamily="18" charset="0"/>
                <a:cs typeface="Times New Roman" panose="02020603050405020304" pitchFamily="18" charset="0"/>
              </a:rPr>
              <a:t>Program:</a:t>
            </a:r>
          </a:p>
          <a:p>
            <a:pPr marL="0" indent="0">
              <a:buNone/>
            </a:pPr>
            <a:r>
              <a:rPr lang="en-IN" sz="2000" dirty="0">
                <a:latin typeface="Times New Roman" panose="02020603050405020304" pitchFamily="18" charset="0"/>
                <a:cs typeface="Times New Roman" panose="02020603050405020304" pitchFamily="18" charset="0"/>
              </a:rPr>
              <a:t>def </a:t>
            </a:r>
            <a:r>
              <a:rPr lang="en-IN" sz="2000" dirty="0" err="1">
                <a:latin typeface="Times New Roman" panose="02020603050405020304" pitchFamily="18" charset="0"/>
                <a:cs typeface="Times New Roman" panose="02020603050405020304" pitchFamily="18" charset="0"/>
              </a:rPr>
              <a:t>fibonacci_series</a:t>
            </a:r>
            <a:r>
              <a:rPr lang="en-IN" sz="2000" dirty="0">
                <a:latin typeface="Times New Roman" panose="02020603050405020304" pitchFamily="18" charset="0"/>
                <a:cs typeface="Times New Roman" panose="02020603050405020304" pitchFamily="18" charset="0"/>
              </a:rPr>
              <a:t>(): </a:t>
            </a:r>
          </a:p>
          <a:p>
            <a:pPr marL="0" indent="0">
              <a:buNone/>
            </a:pPr>
            <a:r>
              <a:rPr lang="en-IN" sz="2000" dirty="0">
                <a:latin typeface="Times New Roman" panose="02020603050405020304" pitchFamily="18" charset="0"/>
                <a:cs typeface="Times New Roman" panose="02020603050405020304" pitchFamily="18" charset="0"/>
              </a:rPr>
              <a:t>      a, b = 0, 1 </a:t>
            </a:r>
          </a:p>
          <a:p>
            <a:pPr marL="0" indent="0">
              <a:buNone/>
            </a:pPr>
            <a:r>
              <a:rPr lang="en-IN" sz="2000" dirty="0">
                <a:latin typeface="Times New Roman" panose="02020603050405020304" pitchFamily="18" charset="0"/>
                <a:cs typeface="Times New Roman" panose="02020603050405020304" pitchFamily="18" charset="0"/>
              </a:rPr>
              <a:t>      while True:    </a:t>
            </a:r>
          </a:p>
          <a:p>
            <a:pPr marL="0" indent="0">
              <a:buNone/>
            </a:pPr>
            <a:r>
              <a:rPr lang="en-IN" sz="2000" dirty="0">
                <a:latin typeface="Times New Roman" panose="02020603050405020304" pitchFamily="18" charset="0"/>
                <a:cs typeface="Times New Roman" panose="02020603050405020304" pitchFamily="18" charset="0"/>
              </a:rPr>
              <a:t>             yield a  </a:t>
            </a:r>
          </a:p>
          <a:p>
            <a:pPr marL="0" indent="0">
              <a:buNone/>
            </a:pPr>
            <a:r>
              <a:rPr lang="en-IN" sz="2000" dirty="0">
                <a:latin typeface="Times New Roman" panose="02020603050405020304" pitchFamily="18" charset="0"/>
                <a:cs typeface="Times New Roman" panose="02020603050405020304" pitchFamily="18" charset="0"/>
              </a:rPr>
              <a:t>             a, b = b, a + b</a:t>
            </a:r>
          </a:p>
          <a:p>
            <a:pPr marL="0" indent="0">
              <a:buNone/>
            </a:pPr>
            <a:r>
              <a:rPr lang="en-IN" sz="2000" dirty="0">
                <a:latin typeface="Times New Roman" panose="02020603050405020304" pitchFamily="18" charset="0"/>
                <a:cs typeface="Times New Roman" panose="02020603050405020304" pitchFamily="18" charset="0"/>
              </a:rPr>
              <a:t>n = int(input("Enter number of Fibonacci numbers: "))  </a:t>
            </a:r>
          </a:p>
          <a:p>
            <a:pPr marL="0" indent="0">
              <a:buNone/>
            </a:pPr>
            <a:r>
              <a:rPr lang="en-IN" sz="2000" dirty="0" err="1">
                <a:latin typeface="Times New Roman" panose="02020603050405020304" pitchFamily="18" charset="0"/>
                <a:cs typeface="Times New Roman" panose="02020603050405020304" pitchFamily="18" charset="0"/>
              </a:rPr>
              <a:t>fib_gen</a:t>
            </a:r>
            <a:r>
              <a:rPr lang="en-IN" sz="2000" dirty="0">
                <a:latin typeface="Times New Roman" panose="02020603050405020304" pitchFamily="18" charset="0"/>
                <a:cs typeface="Times New Roman" panose="02020603050405020304" pitchFamily="18" charset="0"/>
              </a:rPr>
              <a:t> = </a:t>
            </a:r>
            <a:r>
              <a:rPr lang="en-IN" sz="2000" dirty="0" err="1">
                <a:latin typeface="Times New Roman" panose="02020603050405020304" pitchFamily="18" charset="0"/>
                <a:cs typeface="Times New Roman" panose="02020603050405020304" pitchFamily="18" charset="0"/>
              </a:rPr>
              <a:t>fibonacci_series</a:t>
            </a:r>
            <a:r>
              <a:rPr lang="en-IN" sz="2000" dirty="0">
                <a:latin typeface="Times New Roman" panose="02020603050405020304" pitchFamily="18" charset="0"/>
                <a:cs typeface="Times New Roman" panose="02020603050405020304" pitchFamily="18" charset="0"/>
              </a:rPr>
              <a:t>()</a:t>
            </a:r>
          </a:p>
          <a:p>
            <a:pPr marL="0" indent="0">
              <a:buNone/>
            </a:pPr>
            <a:r>
              <a:rPr lang="en-IN" sz="2000" dirty="0">
                <a:latin typeface="Times New Roman" panose="02020603050405020304" pitchFamily="18" charset="0"/>
                <a:cs typeface="Times New Roman" panose="02020603050405020304" pitchFamily="18" charset="0"/>
              </a:rPr>
              <a:t>print("Fibonacci Series:")</a:t>
            </a:r>
          </a:p>
          <a:p>
            <a:pPr marL="0" indent="0">
              <a:buNone/>
            </a:pPr>
            <a:r>
              <a:rPr lang="en-IN" sz="2000" dirty="0">
                <a:latin typeface="Times New Roman" panose="02020603050405020304" pitchFamily="18" charset="0"/>
                <a:cs typeface="Times New Roman" panose="02020603050405020304" pitchFamily="18" charset="0"/>
              </a:rPr>
              <a:t>for _ in range(n):   </a:t>
            </a:r>
          </a:p>
          <a:p>
            <a:pPr marL="0" indent="0">
              <a:buNone/>
            </a:pPr>
            <a:r>
              <a:rPr lang="en-IN" sz="2000" dirty="0">
                <a:latin typeface="Times New Roman" panose="02020603050405020304" pitchFamily="18" charset="0"/>
                <a:cs typeface="Times New Roman" panose="02020603050405020304" pitchFamily="18" charset="0"/>
              </a:rPr>
              <a:t>      print(next(</a:t>
            </a:r>
            <a:r>
              <a:rPr lang="en-IN" sz="2000" dirty="0" err="1">
                <a:latin typeface="Times New Roman" panose="02020603050405020304" pitchFamily="18" charset="0"/>
                <a:cs typeface="Times New Roman" panose="02020603050405020304" pitchFamily="18" charset="0"/>
              </a:rPr>
              <a:t>fib_gen</a:t>
            </a:r>
            <a:r>
              <a:rPr lang="en-IN" sz="2000" dirty="0">
                <a:latin typeface="Times New Roman" panose="02020603050405020304" pitchFamily="18" charset="0"/>
                <a:cs typeface="Times New Roman" panose="02020603050405020304" pitchFamily="18" charset="0"/>
              </a:rPr>
              <a:t>), end=" ")</a:t>
            </a:r>
          </a:p>
        </p:txBody>
      </p:sp>
    </p:spTree>
    <p:extLst>
      <p:ext uri="{BB962C8B-B14F-4D97-AF65-F5344CB8AC3E}">
        <p14:creationId xmlns:p14="http://schemas.microsoft.com/office/powerpoint/2010/main" val="9669781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1697B5-30B0-F06D-802D-5A8242D98BEB}"/>
              </a:ext>
            </a:extLst>
          </p:cNvPr>
          <p:cNvSpPr>
            <a:spLocks noGrp="1"/>
          </p:cNvSpPr>
          <p:nvPr>
            <p:ph idx="1"/>
          </p:nvPr>
        </p:nvSpPr>
        <p:spPr>
          <a:xfrm>
            <a:off x="763555" y="1499054"/>
            <a:ext cx="10515600" cy="4351338"/>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Output:</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B8B7D61-A859-64BD-232D-7FEFFFA0A64D}"/>
              </a:ext>
            </a:extLst>
          </p:cNvPr>
          <p:cNvPicPr>
            <a:picLocks noChangeAspect="1"/>
          </p:cNvPicPr>
          <p:nvPr/>
        </p:nvPicPr>
        <p:blipFill>
          <a:blip r:embed="rId2"/>
          <a:stretch>
            <a:fillRect/>
          </a:stretch>
        </p:blipFill>
        <p:spPr>
          <a:xfrm>
            <a:off x="995888" y="2202024"/>
            <a:ext cx="9079638" cy="254570"/>
          </a:xfrm>
          <a:prstGeom prst="rect">
            <a:avLst/>
          </a:prstGeom>
        </p:spPr>
      </p:pic>
      <p:pic>
        <p:nvPicPr>
          <p:cNvPr id="7" name="Picture 6">
            <a:extLst>
              <a:ext uri="{FF2B5EF4-FFF2-40B4-BE49-F238E27FC236}">
                <a16:creationId xmlns:a16="http://schemas.microsoft.com/office/drawing/2014/main" id="{F1CAB2ED-40E9-626C-B845-F6D00FDEE0AD}"/>
              </a:ext>
            </a:extLst>
          </p:cNvPr>
          <p:cNvPicPr>
            <a:picLocks noChangeAspect="1"/>
          </p:cNvPicPr>
          <p:nvPr/>
        </p:nvPicPr>
        <p:blipFill>
          <a:blip r:embed="rId3"/>
          <a:stretch>
            <a:fillRect/>
          </a:stretch>
        </p:blipFill>
        <p:spPr>
          <a:xfrm>
            <a:off x="912845" y="3133684"/>
            <a:ext cx="4091570" cy="915802"/>
          </a:xfrm>
          <a:prstGeom prst="rect">
            <a:avLst/>
          </a:prstGeom>
        </p:spPr>
      </p:pic>
    </p:spTree>
    <p:extLst>
      <p:ext uri="{BB962C8B-B14F-4D97-AF65-F5344CB8AC3E}">
        <p14:creationId xmlns:p14="http://schemas.microsoft.com/office/powerpoint/2010/main" val="7709006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5357F-E5C7-925A-6E6C-C36A5DB36558}"/>
              </a:ext>
            </a:extLst>
          </p:cNvPr>
          <p:cNvSpPr>
            <a:spLocks noGrp="1"/>
          </p:cNvSpPr>
          <p:nvPr>
            <p:ph type="title"/>
          </p:nvPr>
        </p:nvSpPr>
        <p:spPr/>
        <p:txBody>
          <a:bodyPr>
            <a:normAutofit/>
          </a:bodyPr>
          <a:lstStyle/>
          <a:p>
            <a:r>
              <a:rPr lang="en-US" sz="3600" b="1" dirty="0">
                <a:solidFill>
                  <a:srgbClr val="00B050"/>
                </a:solidFill>
                <a:latin typeface="Times New Roman" panose="02020603050405020304" pitchFamily="18" charset="0"/>
                <a:cs typeface="Times New Roman" panose="02020603050405020304" pitchFamily="18" charset="0"/>
              </a:rPr>
              <a:t>2.Movie Ticket Booking</a:t>
            </a:r>
            <a:endParaRPr lang="en-IN" sz="36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3D251E-5926-4A03-C1C4-D941C71BBB39}"/>
              </a:ext>
            </a:extLst>
          </p:cNvPr>
          <p:cNvSpPr>
            <a:spLocks noGrp="1"/>
          </p:cNvSpPr>
          <p:nvPr>
            <p:ph idx="1"/>
          </p:nvPr>
        </p:nvSpPr>
        <p:spPr>
          <a:xfrm>
            <a:off x="903514" y="1508384"/>
            <a:ext cx="10515600" cy="4351338"/>
          </a:xfrm>
        </p:spPr>
        <p:txBody>
          <a:bodyPr>
            <a:normAutofit/>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Program:</a:t>
            </a:r>
          </a:p>
          <a:p>
            <a:pPr marL="0" indent="0">
              <a:buNone/>
            </a:pPr>
            <a:r>
              <a:rPr lang="en-IN" sz="2200" dirty="0">
                <a:latin typeface="Times New Roman" panose="02020603050405020304" pitchFamily="18" charset="0"/>
                <a:cs typeface="Times New Roman" panose="02020603050405020304" pitchFamily="18" charset="0"/>
              </a:rPr>
              <a:t>def </a:t>
            </a:r>
            <a:r>
              <a:rPr lang="en-IN" sz="2200" dirty="0" err="1">
                <a:latin typeface="Times New Roman" panose="02020603050405020304" pitchFamily="18" charset="0"/>
                <a:cs typeface="Times New Roman" panose="02020603050405020304" pitchFamily="18" charset="0"/>
              </a:rPr>
              <a:t>seat_number_generator</a:t>
            </a:r>
            <a:r>
              <a:rPr lang="en-IN" sz="2200" dirty="0">
                <a:latin typeface="Times New Roman" panose="02020603050405020304" pitchFamily="18" charset="0"/>
                <a:cs typeface="Times New Roman" panose="02020603050405020304" pitchFamily="18" charset="0"/>
              </a:rPr>
              <a:t>(row='A', seats=10):  </a:t>
            </a:r>
          </a:p>
          <a:p>
            <a:pPr marL="0" indent="0">
              <a:buNone/>
            </a:pPr>
            <a:r>
              <a:rPr lang="en-IN" sz="2200" dirty="0">
                <a:latin typeface="Times New Roman" panose="02020603050405020304" pitchFamily="18" charset="0"/>
                <a:cs typeface="Times New Roman" panose="02020603050405020304" pitchFamily="18" charset="0"/>
              </a:rPr>
              <a:t>       for </a:t>
            </a:r>
            <a:r>
              <a:rPr lang="en-IN" sz="2200" dirty="0" err="1">
                <a:latin typeface="Times New Roman" panose="02020603050405020304" pitchFamily="18" charset="0"/>
                <a:cs typeface="Times New Roman" panose="02020603050405020304" pitchFamily="18" charset="0"/>
              </a:rPr>
              <a:t>i</a:t>
            </a:r>
            <a:r>
              <a:rPr lang="en-IN" sz="2200" dirty="0">
                <a:latin typeface="Times New Roman" panose="02020603050405020304" pitchFamily="18" charset="0"/>
                <a:cs typeface="Times New Roman" panose="02020603050405020304" pitchFamily="18" charset="0"/>
              </a:rPr>
              <a:t> in range(1, seats + 1):       </a:t>
            </a:r>
          </a:p>
          <a:p>
            <a:pPr marL="0" indent="0">
              <a:buNone/>
            </a:pPr>
            <a:r>
              <a:rPr lang="en-IN" sz="2200" dirty="0">
                <a:latin typeface="Times New Roman" panose="02020603050405020304" pitchFamily="18" charset="0"/>
                <a:cs typeface="Times New Roman" panose="02020603050405020304" pitchFamily="18" charset="0"/>
              </a:rPr>
              <a:t>             yield </a:t>
            </a:r>
            <a:r>
              <a:rPr lang="en-IN" sz="2200" dirty="0" err="1">
                <a:latin typeface="Times New Roman" panose="02020603050405020304" pitchFamily="18" charset="0"/>
                <a:cs typeface="Times New Roman" panose="02020603050405020304" pitchFamily="18" charset="0"/>
              </a:rPr>
              <a:t>f”Seat</a:t>
            </a:r>
            <a:r>
              <a:rPr lang="en-IN" sz="2200" dirty="0">
                <a:latin typeface="Times New Roman" panose="02020603050405020304" pitchFamily="18" charset="0"/>
                <a:cs typeface="Times New Roman" panose="02020603050405020304" pitchFamily="18" charset="0"/>
              </a:rPr>
              <a:t> {row}{</a:t>
            </a:r>
            <a:r>
              <a:rPr lang="en-IN" sz="2200" dirty="0" err="1">
                <a:latin typeface="Times New Roman" panose="02020603050405020304" pitchFamily="18" charset="0"/>
                <a:cs typeface="Times New Roman" panose="02020603050405020304" pitchFamily="18" charset="0"/>
              </a:rPr>
              <a:t>i</a:t>
            </a:r>
            <a:r>
              <a:rPr lang="en-IN" sz="2200" dirty="0">
                <a:latin typeface="Times New Roman" panose="02020603050405020304" pitchFamily="18" charset="0"/>
                <a:cs typeface="Times New Roman" panose="02020603050405020304" pitchFamily="18" charset="0"/>
              </a:rPr>
              <a:t>}”</a:t>
            </a:r>
          </a:p>
          <a:p>
            <a:pPr marL="0" indent="0">
              <a:buNone/>
            </a:pPr>
            <a:r>
              <a:rPr lang="en-IN" sz="2200" dirty="0" err="1">
                <a:latin typeface="Times New Roman" panose="02020603050405020304" pitchFamily="18" charset="0"/>
                <a:cs typeface="Times New Roman" panose="02020603050405020304" pitchFamily="18" charset="0"/>
              </a:rPr>
              <a:t>row_letter</a:t>
            </a:r>
            <a:r>
              <a:rPr lang="en-IN" sz="2200" dirty="0">
                <a:latin typeface="Times New Roman" panose="02020603050405020304" pitchFamily="18" charset="0"/>
                <a:cs typeface="Times New Roman" panose="02020603050405020304" pitchFamily="18" charset="0"/>
              </a:rPr>
              <a:t> = input("Enter row letter: ")  </a:t>
            </a:r>
          </a:p>
          <a:p>
            <a:pPr marL="0" indent="0">
              <a:buNone/>
            </a:pPr>
            <a:r>
              <a:rPr lang="en-IN" sz="2200" dirty="0" err="1">
                <a:latin typeface="Times New Roman" panose="02020603050405020304" pitchFamily="18" charset="0"/>
                <a:cs typeface="Times New Roman" panose="02020603050405020304" pitchFamily="18" charset="0"/>
              </a:rPr>
              <a:t>num_seats</a:t>
            </a:r>
            <a:r>
              <a:rPr lang="en-IN" sz="2200" dirty="0">
                <a:latin typeface="Times New Roman" panose="02020603050405020304" pitchFamily="18" charset="0"/>
                <a:cs typeface="Times New Roman" panose="02020603050405020304" pitchFamily="18" charset="0"/>
              </a:rPr>
              <a:t> = int(input("Enter number of seats: "))  </a:t>
            </a:r>
          </a:p>
          <a:p>
            <a:pPr marL="0" indent="0">
              <a:buNone/>
            </a:pPr>
            <a:endParaRPr lang="en-IN" sz="2200" dirty="0">
              <a:latin typeface="Times New Roman" panose="02020603050405020304" pitchFamily="18" charset="0"/>
              <a:cs typeface="Times New Roman" panose="02020603050405020304" pitchFamily="18" charset="0"/>
            </a:endParaRPr>
          </a:p>
          <a:p>
            <a:pPr marL="0" indent="0">
              <a:buNone/>
            </a:pPr>
            <a:r>
              <a:rPr lang="en-IN" sz="2200" dirty="0">
                <a:latin typeface="Times New Roman" panose="02020603050405020304" pitchFamily="18" charset="0"/>
                <a:cs typeface="Times New Roman" panose="02020603050405020304" pitchFamily="18" charset="0"/>
              </a:rPr>
              <a:t>seats = </a:t>
            </a:r>
            <a:r>
              <a:rPr lang="en-IN" sz="2200" dirty="0" err="1">
                <a:latin typeface="Times New Roman" panose="02020603050405020304" pitchFamily="18" charset="0"/>
                <a:cs typeface="Times New Roman" panose="02020603050405020304" pitchFamily="18" charset="0"/>
              </a:rPr>
              <a:t>seat_number_generator</a:t>
            </a:r>
            <a:r>
              <a:rPr lang="en-IN" sz="2200" dirty="0">
                <a:latin typeface="Times New Roman" panose="02020603050405020304" pitchFamily="18" charset="0"/>
                <a:cs typeface="Times New Roman" panose="02020603050405020304" pitchFamily="18" charset="0"/>
              </a:rPr>
              <a:t>(</a:t>
            </a:r>
            <a:r>
              <a:rPr lang="en-IN" sz="2200" dirty="0" err="1">
                <a:latin typeface="Times New Roman" panose="02020603050405020304" pitchFamily="18" charset="0"/>
                <a:cs typeface="Times New Roman" panose="02020603050405020304" pitchFamily="18" charset="0"/>
              </a:rPr>
              <a:t>row_letter</a:t>
            </a:r>
            <a:r>
              <a:rPr lang="en-IN" sz="2200" dirty="0">
                <a:latin typeface="Times New Roman" panose="02020603050405020304" pitchFamily="18" charset="0"/>
                <a:cs typeface="Times New Roman" panose="02020603050405020304" pitchFamily="18" charset="0"/>
              </a:rPr>
              <a:t>, </a:t>
            </a:r>
            <a:r>
              <a:rPr lang="en-IN" sz="2200" dirty="0" err="1">
                <a:latin typeface="Times New Roman" panose="02020603050405020304" pitchFamily="18" charset="0"/>
                <a:cs typeface="Times New Roman" panose="02020603050405020304" pitchFamily="18" charset="0"/>
              </a:rPr>
              <a:t>num_seats</a:t>
            </a:r>
            <a:r>
              <a:rPr lang="en-IN" sz="2200" dirty="0">
                <a:latin typeface="Times New Roman" panose="02020603050405020304" pitchFamily="18" charset="0"/>
                <a:cs typeface="Times New Roman" panose="02020603050405020304" pitchFamily="18" charset="0"/>
              </a:rPr>
              <a:t>)</a:t>
            </a:r>
          </a:p>
          <a:p>
            <a:pPr marL="0" indent="0">
              <a:buNone/>
            </a:pPr>
            <a:r>
              <a:rPr lang="en-IN" sz="2200" dirty="0">
                <a:latin typeface="Times New Roman" panose="02020603050405020304" pitchFamily="18" charset="0"/>
                <a:cs typeface="Times New Roman" panose="02020603050405020304" pitchFamily="18" charset="0"/>
              </a:rPr>
              <a:t>for _ in range(</a:t>
            </a:r>
            <a:r>
              <a:rPr lang="en-IN" sz="2200" dirty="0" err="1">
                <a:latin typeface="Times New Roman" panose="02020603050405020304" pitchFamily="18" charset="0"/>
                <a:cs typeface="Times New Roman" panose="02020603050405020304" pitchFamily="18" charset="0"/>
              </a:rPr>
              <a:t>num_seats</a:t>
            </a:r>
            <a:r>
              <a:rPr lang="en-IN" sz="2200" dirty="0">
                <a:latin typeface="Times New Roman" panose="02020603050405020304" pitchFamily="18" charset="0"/>
                <a:cs typeface="Times New Roman" panose="02020603050405020304" pitchFamily="18" charset="0"/>
              </a:rPr>
              <a:t>):   </a:t>
            </a:r>
          </a:p>
          <a:p>
            <a:pPr marL="0" indent="0">
              <a:buNone/>
            </a:pPr>
            <a:r>
              <a:rPr lang="en-IN" sz="2200" dirty="0">
                <a:latin typeface="Times New Roman" panose="02020603050405020304" pitchFamily="18" charset="0"/>
                <a:cs typeface="Times New Roman" panose="02020603050405020304" pitchFamily="18" charset="0"/>
              </a:rPr>
              <a:t>      print(next(seats))</a:t>
            </a:r>
          </a:p>
        </p:txBody>
      </p:sp>
    </p:spTree>
    <p:extLst>
      <p:ext uri="{BB962C8B-B14F-4D97-AF65-F5344CB8AC3E}">
        <p14:creationId xmlns:p14="http://schemas.microsoft.com/office/powerpoint/2010/main" val="3316220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E7372A-6CBC-5E89-3869-07A898084F3F}"/>
              </a:ext>
            </a:extLst>
          </p:cNvPr>
          <p:cNvSpPr>
            <a:spLocks noGrp="1"/>
          </p:cNvSpPr>
          <p:nvPr>
            <p:ph idx="1"/>
          </p:nvPr>
        </p:nvSpPr>
        <p:spPr>
          <a:xfrm>
            <a:off x="912845" y="1181813"/>
            <a:ext cx="10515600" cy="4351338"/>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Output:</a:t>
            </a:r>
          </a:p>
          <a:p>
            <a:pPr marL="0" indent="0">
              <a:buNone/>
            </a:pP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7AAAA08-DC23-BEDC-1EBA-DC2505FD5718}"/>
              </a:ext>
            </a:extLst>
          </p:cNvPr>
          <p:cNvPicPr>
            <a:picLocks noChangeAspect="1"/>
          </p:cNvPicPr>
          <p:nvPr/>
        </p:nvPicPr>
        <p:blipFill>
          <a:blip r:embed="rId2"/>
          <a:stretch>
            <a:fillRect/>
          </a:stretch>
        </p:blipFill>
        <p:spPr>
          <a:xfrm>
            <a:off x="1073204" y="1778526"/>
            <a:ext cx="5734850" cy="352474"/>
          </a:xfrm>
          <a:prstGeom prst="rect">
            <a:avLst/>
          </a:prstGeom>
        </p:spPr>
      </p:pic>
      <p:pic>
        <p:nvPicPr>
          <p:cNvPr id="7" name="Picture 6">
            <a:extLst>
              <a:ext uri="{FF2B5EF4-FFF2-40B4-BE49-F238E27FC236}">
                <a16:creationId xmlns:a16="http://schemas.microsoft.com/office/drawing/2014/main" id="{2651E24B-2897-077E-64BF-803CC676D44F}"/>
              </a:ext>
            </a:extLst>
          </p:cNvPr>
          <p:cNvPicPr>
            <a:picLocks noChangeAspect="1"/>
          </p:cNvPicPr>
          <p:nvPr/>
        </p:nvPicPr>
        <p:blipFill>
          <a:blip r:embed="rId3"/>
          <a:stretch>
            <a:fillRect/>
          </a:stretch>
        </p:blipFill>
        <p:spPr>
          <a:xfrm>
            <a:off x="1073204" y="2131000"/>
            <a:ext cx="5925377" cy="247685"/>
          </a:xfrm>
          <a:prstGeom prst="rect">
            <a:avLst/>
          </a:prstGeom>
        </p:spPr>
      </p:pic>
      <p:pic>
        <p:nvPicPr>
          <p:cNvPr id="9" name="Picture 8">
            <a:extLst>
              <a:ext uri="{FF2B5EF4-FFF2-40B4-BE49-F238E27FC236}">
                <a16:creationId xmlns:a16="http://schemas.microsoft.com/office/drawing/2014/main" id="{B31C6560-3DA6-D841-F52A-AC93D03CD533}"/>
              </a:ext>
            </a:extLst>
          </p:cNvPr>
          <p:cNvPicPr>
            <a:picLocks noChangeAspect="1"/>
          </p:cNvPicPr>
          <p:nvPr/>
        </p:nvPicPr>
        <p:blipFill>
          <a:blip r:embed="rId4"/>
          <a:stretch>
            <a:fillRect/>
          </a:stretch>
        </p:blipFill>
        <p:spPr>
          <a:xfrm>
            <a:off x="1073204" y="3357482"/>
            <a:ext cx="1390078" cy="952876"/>
          </a:xfrm>
          <a:prstGeom prst="rect">
            <a:avLst/>
          </a:prstGeom>
        </p:spPr>
      </p:pic>
    </p:spTree>
    <p:extLst>
      <p:ext uri="{BB962C8B-B14F-4D97-AF65-F5344CB8AC3E}">
        <p14:creationId xmlns:p14="http://schemas.microsoft.com/office/powerpoint/2010/main" val="20963139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8A87F-2B48-35CC-604A-89B9F8697B98}"/>
              </a:ext>
            </a:extLst>
          </p:cNvPr>
          <p:cNvSpPr>
            <a:spLocks noGrp="1"/>
          </p:cNvSpPr>
          <p:nvPr>
            <p:ph type="title"/>
          </p:nvPr>
        </p:nvSpPr>
        <p:spPr>
          <a:xfrm>
            <a:off x="576942" y="-149598"/>
            <a:ext cx="10515600" cy="1325563"/>
          </a:xfrm>
        </p:spPr>
        <p:txBody>
          <a:bodyPr>
            <a:normAutofit/>
          </a:bodyPr>
          <a:lstStyle/>
          <a:p>
            <a:r>
              <a:rPr lang="en-US" sz="3600" b="1" dirty="0">
                <a:solidFill>
                  <a:srgbClr val="00B050"/>
                </a:solidFill>
                <a:latin typeface="Times New Roman" panose="02020603050405020304" pitchFamily="18" charset="0"/>
                <a:cs typeface="Times New Roman" panose="02020603050405020304" pitchFamily="18" charset="0"/>
              </a:rPr>
              <a:t>3.Traffic Light System</a:t>
            </a:r>
            <a:endParaRPr lang="en-IN" sz="36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2556D65-74BD-0AAF-BAB8-90681C2DD794}"/>
              </a:ext>
            </a:extLst>
          </p:cNvPr>
          <p:cNvSpPr>
            <a:spLocks noGrp="1"/>
          </p:cNvSpPr>
          <p:nvPr>
            <p:ph idx="1"/>
          </p:nvPr>
        </p:nvSpPr>
        <p:spPr>
          <a:xfrm>
            <a:off x="698241" y="1006119"/>
            <a:ext cx="10515600" cy="4845762"/>
          </a:xfrm>
        </p:spPr>
        <p:txBody>
          <a:bodyPr>
            <a:normAutofit/>
          </a:bodyPr>
          <a:lstStyle/>
          <a:p>
            <a:pPr marL="0" indent="0">
              <a:buNone/>
            </a:pPr>
            <a:r>
              <a:rPr lang="en-US" sz="1600" b="1" dirty="0">
                <a:solidFill>
                  <a:srgbClr val="FF0000"/>
                </a:solidFill>
                <a:latin typeface="Times New Roman" panose="02020603050405020304" pitchFamily="18" charset="0"/>
                <a:cs typeface="Times New Roman" panose="02020603050405020304" pitchFamily="18" charset="0"/>
              </a:rPr>
              <a:t>Program:</a:t>
            </a:r>
          </a:p>
          <a:p>
            <a:pPr marL="0" indent="0">
              <a:buNone/>
            </a:pPr>
            <a:r>
              <a:rPr lang="en-US" sz="1600" dirty="0">
                <a:latin typeface="Times New Roman" panose="02020603050405020304" pitchFamily="18" charset="0"/>
                <a:cs typeface="Times New Roman" panose="02020603050405020304" pitchFamily="18" charset="0"/>
              </a:rPr>
              <a:t>import time</a:t>
            </a:r>
          </a:p>
          <a:p>
            <a:pPr marL="0" indent="0">
              <a:buNone/>
            </a:pPr>
            <a:r>
              <a:rPr lang="en-US" sz="1600" dirty="0">
                <a:latin typeface="Times New Roman" panose="02020603050405020304" pitchFamily="18" charset="0"/>
                <a:cs typeface="Times New Roman" panose="02020603050405020304" pitchFamily="18" charset="0"/>
              </a:rPr>
              <a:t>def </a:t>
            </a:r>
            <a:r>
              <a:rPr lang="en-US" sz="1600" dirty="0" err="1">
                <a:latin typeface="Times New Roman" panose="02020603050405020304" pitchFamily="18" charset="0"/>
                <a:cs typeface="Times New Roman" panose="02020603050405020304" pitchFamily="18" charset="0"/>
              </a:rPr>
              <a:t>traffic_light</a:t>
            </a:r>
            <a:r>
              <a:rPr lang="en-US" sz="1600" dirty="0">
                <a:latin typeface="Times New Roman" panose="02020603050405020304" pitchFamily="18" charset="0"/>
                <a:cs typeface="Times New Roman" panose="02020603050405020304" pitchFamily="18" charset="0"/>
              </a:rPr>
              <a:t>(): </a:t>
            </a:r>
          </a:p>
          <a:p>
            <a:pPr marL="0" indent="0">
              <a:buNone/>
            </a:pPr>
            <a:r>
              <a:rPr lang="en-US" sz="1600" dirty="0">
                <a:latin typeface="Times New Roman" panose="02020603050405020304" pitchFamily="18" charset="0"/>
                <a:cs typeface="Times New Roman" panose="02020603050405020304" pitchFamily="18" charset="0"/>
              </a:rPr>
              <a:t>       lights = [("Red", 5), ("Green", 4), ("Yellow", 2)]  </a:t>
            </a:r>
          </a:p>
          <a:p>
            <a:pPr marL="0" indent="0">
              <a:buNone/>
            </a:pPr>
            <a:r>
              <a:rPr lang="en-US" sz="1600" dirty="0">
                <a:latin typeface="Times New Roman" panose="02020603050405020304" pitchFamily="18" charset="0"/>
                <a:cs typeface="Times New Roman" panose="02020603050405020304" pitchFamily="18" charset="0"/>
              </a:rPr>
              <a:t>       while True:        </a:t>
            </a:r>
          </a:p>
          <a:p>
            <a:pPr marL="0" indent="0">
              <a:buNone/>
            </a:pPr>
            <a:r>
              <a:rPr lang="en-US" sz="1600" dirty="0">
                <a:latin typeface="Times New Roman" panose="02020603050405020304" pitchFamily="18" charset="0"/>
                <a:cs typeface="Times New Roman" panose="02020603050405020304" pitchFamily="18" charset="0"/>
              </a:rPr>
              <a:t>              for light, duration in lights:          </a:t>
            </a:r>
          </a:p>
          <a:p>
            <a:pPr marL="0" indent="0">
              <a:buNone/>
            </a:pPr>
            <a:r>
              <a:rPr lang="en-US" sz="1600" dirty="0">
                <a:latin typeface="Times New Roman" panose="02020603050405020304" pitchFamily="18" charset="0"/>
                <a:cs typeface="Times New Roman" panose="02020603050405020304" pitchFamily="18" charset="0"/>
              </a:rPr>
              <a:t>                    yield light         </a:t>
            </a:r>
          </a:p>
          <a:p>
            <a:pPr marL="0" indent="0">
              <a:buNone/>
            </a:pP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time.sleep</a:t>
            </a:r>
            <a:r>
              <a:rPr lang="en-US" sz="1600" dirty="0">
                <a:latin typeface="Times New Roman" panose="02020603050405020304" pitchFamily="18" charset="0"/>
                <a:cs typeface="Times New Roman" panose="02020603050405020304" pitchFamily="18" charset="0"/>
              </a:rPr>
              <a:t>(duration)</a:t>
            </a:r>
          </a:p>
          <a:p>
            <a:pPr marL="0" indent="0">
              <a:buNone/>
            </a:pPr>
            <a:r>
              <a:rPr lang="en-US" sz="1600" dirty="0" err="1">
                <a:latin typeface="Times New Roman" panose="02020603050405020304" pitchFamily="18" charset="0"/>
                <a:cs typeface="Times New Roman" panose="02020603050405020304" pitchFamily="18" charset="0"/>
              </a:rPr>
              <a:t>light_cycle</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traffic_light</a:t>
            </a:r>
            <a:r>
              <a:rPr lang="en-US" sz="1600" dirty="0">
                <a:latin typeface="Times New Roman" panose="02020603050405020304" pitchFamily="18" charset="0"/>
                <a:cs typeface="Times New Roman" panose="02020603050405020304" pitchFamily="18" charset="0"/>
              </a:rPr>
              <a:t>()</a:t>
            </a:r>
          </a:p>
          <a:p>
            <a:pPr marL="0" indent="0">
              <a:buNone/>
            </a:pPr>
            <a:r>
              <a:rPr lang="en-US" sz="1600" dirty="0">
                <a:latin typeface="Times New Roman" panose="02020603050405020304" pitchFamily="18" charset="0"/>
                <a:cs typeface="Times New Roman" panose="02020603050405020304" pitchFamily="18" charset="0"/>
              </a:rPr>
              <a:t>for _ in range(6):</a:t>
            </a:r>
          </a:p>
          <a:p>
            <a:pPr marL="0" indent="0">
              <a:buNone/>
            </a:pPr>
            <a:r>
              <a:rPr lang="en-US" sz="1600" dirty="0">
                <a:latin typeface="Times New Roman" panose="02020603050405020304" pitchFamily="18" charset="0"/>
                <a:cs typeface="Times New Roman" panose="02020603050405020304" pitchFamily="18" charset="0"/>
              </a:rPr>
              <a:t>       print("Traffic Light:", next(</a:t>
            </a:r>
            <a:r>
              <a:rPr lang="en-US" sz="1600" dirty="0" err="1">
                <a:latin typeface="Times New Roman" panose="02020603050405020304" pitchFamily="18" charset="0"/>
                <a:cs typeface="Times New Roman" panose="02020603050405020304" pitchFamily="18" charset="0"/>
              </a:rPr>
              <a:t>light_cycle</a:t>
            </a:r>
            <a:r>
              <a:rPr lang="en-US" sz="1600" dirty="0">
                <a:latin typeface="Times New Roman" panose="02020603050405020304" pitchFamily="18" charset="0"/>
                <a:cs typeface="Times New Roman" panose="02020603050405020304" pitchFamily="18" charset="0"/>
              </a:rPr>
              <a:t>))</a:t>
            </a:r>
          </a:p>
          <a:p>
            <a:pPr marL="0" indent="0">
              <a:buNone/>
            </a:pPr>
            <a:r>
              <a:rPr lang="en-US" sz="1600" b="1" dirty="0">
                <a:solidFill>
                  <a:srgbClr val="FF0000"/>
                </a:solidFill>
                <a:latin typeface="Times New Roman" panose="02020603050405020304" pitchFamily="18" charset="0"/>
                <a:cs typeface="Times New Roman" panose="02020603050405020304" pitchFamily="18" charset="0"/>
              </a:rPr>
              <a:t>Output:</a:t>
            </a:r>
          </a:p>
        </p:txBody>
      </p:sp>
      <p:pic>
        <p:nvPicPr>
          <p:cNvPr id="5" name="Picture 4">
            <a:extLst>
              <a:ext uri="{FF2B5EF4-FFF2-40B4-BE49-F238E27FC236}">
                <a16:creationId xmlns:a16="http://schemas.microsoft.com/office/drawing/2014/main" id="{E21633E4-17CC-1B1E-7BDC-AC161B93CBF1}"/>
              </a:ext>
            </a:extLst>
          </p:cNvPr>
          <p:cNvPicPr>
            <a:picLocks noChangeAspect="1"/>
          </p:cNvPicPr>
          <p:nvPr/>
        </p:nvPicPr>
        <p:blipFill>
          <a:blip r:embed="rId2"/>
          <a:stretch>
            <a:fillRect/>
          </a:stretch>
        </p:blipFill>
        <p:spPr>
          <a:xfrm>
            <a:off x="978159" y="5146813"/>
            <a:ext cx="2705478" cy="1267002"/>
          </a:xfrm>
          <a:prstGeom prst="rect">
            <a:avLst/>
          </a:prstGeom>
        </p:spPr>
      </p:pic>
    </p:spTree>
    <p:extLst>
      <p:ext uri="{BB962C8B-B14F-4D97-AF65-F5344CB8AC3E}">
        <p14:creationId xmlns:p14="http://schemas.microsoft.com/office/powerpoint/2010/main" val="2022428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637A1-5A6E-F657-D69B-41D2B65D3A6F}"/>
              </a:ext>
            </a:extLst>
          </p:cNvPr>
          <p:cNvSpPr>
            <a:spLocks noGrp="1"/>
          </p:cNvSpPr>
          <p:nvPr>
            <p:ph type="title"/>
          </p:nvPr>
        </p:nvSpPr>
        <p:spPr>
          <a:xfrm>
            <a:off x="679579" y="182821"/>
            <a:ext cx="10515600" cy="1325563"/>
          </a:xfrm>
        </p:spPr>
        <p:txBody>
          <a:bodyPr>
            <a:normAutofit/>
          </a:bodyPr>
          <a:lstStyle/>
          <a:p>
            <a:r>
              <a:rPr lang="en-US" sz="3600" b="1" dirty="0">
                <a:solidFill>
                  <a:srgbClr val="00B050"/>
                </a:solidFill>
                <a:latin typeface="Times New Roman" panose="02020603050405020304" pitchFamily="18" charset="0"/>
                <a:cs typeface="Times New Roman" panose="02020603050405020304" pitchFamily="18" charset="0"/>
              </a:rPr>
              <a:t>4.ATM Cash Dispenses</a:t>
            </a:r>
            <a:endParaRPr lang="en-IN" sz="3600" b="1" dirty="0">
              <a:solidFill>
                <a:srgbClr val="00B05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FB53BAF-811F-5D01-9D3C-52A05B524971}"/>
              </a:ext>
            </a:extLst>
          </p:cNvPr>
          <p:cNvSpPr>
            <a:spLocks noGrp="1"/>
          </p:cNvSpPr>
          <p:nvPr>
            <p:ph idx="1"/>
          </p:nvPr>
        </p:nvSpPr>
        <p:spPr>
          <a:xfrm>
            <a:off x="838200" y="1331102"/>
            <a:ext cx="10515600" cy="4808440"/>
          </a:xfrm>
        </p:spPr>
        <p:txBody>
          <a:bodyPr>
            <a:normAutofit fontScale="70000" lnSpcReduction="20000"/>
          </a:bodyPr>
          <a:lstStyle/>
          <a:p>
            <a:pPr marL="0" indent="0">
              <a:buNone/>
            </a:pPr>
            <a:r>
              <a:rPr lang="en-US" sz="3400" b="1" dirty="0">
                <a:solidFill>
                  <a:srgbClr val="FF0000"/>
                </a:solidFill>
                <a:latin typeface="Times New Roman" panose="02020603050405020304" pitchFamily="18" charset="0"/>
                <a:cs typeface="Times New Roman" panose="02020603050405020304" pitchFamily="18" charset="0"/>
              </a:rPr>
              <a:t>Program:</a:t>
            </a:r>
          </a:p>
          <a:p>
            <a:pPr marL="0" indent="0">
              <a:buNone/>
            </a:pPr>
            <a:r>
              <a:rPr lang="en-US" dirty="0">
                <a:latin typeface="Times New Roman" panose="02020603050405020304" pitchFamily="18" charset="0"/>
                <a:cs typeface="Times New Roman" panose="02020603050405020304" pitchFamily="18" charset="0"/>
              </a:rPr>
              <a:t>def </a:t>
            </a:r>
            <a:r>
              <a:rPr lang="en-US" dirty="0" err="1">
                <a:latin typeface="Times New Roman" panose="02020603050405020304" pitchFamily="18" charset="0"/>
                <a:cs typeface="Times New Roman" panose="02020603050405020304" pitchFamily="18" charset="0"/>
              </a:rPr>
              <a:t>atm_cash_dispenser</a:t>
            </a:r>
            <a:r>
              <a:rPr lang="en-US" dirty="0">
                <a:latin typeface="Times New Roman" panose="02020603050405020304" pitchFamily="18" charset="0"/>
                <a:cs typeface="Times New Roman" panose="02020603050405020304" pitchFamily="18" charset="0"/>
              </a:rPr>
              <a:t>(amount):  </a:t>
            </a:r>
          </a:p>
          <a:p>
            <a:pPr marL="0" indent="0">
              <a:buNone/>
            </a:pPr>
            <a:r>
              <a:rPr lang="en-US" dirty="0">
                <a:latin typeface="Times New Roman" panose="02020603050405020304" pitchFamily="18" charset="0"/>
                <a:cs typeface="Times New Roman" panose="02020603050405020304" pitchFamily="18" charset="0"/>
              </a:rPr>
              <a:t>     denominations = [2000, 500, 200, 100, 50, 20, 10]   </a:t>
            </a:r>
          </a:p>
          <a:p>
            <a:pPr marL="0" indent="0">
              <a:buNone/>
            </a:pPr>
            <a:r>
              <a:rPr lang="en-US" dirty="0">
                <a:latin typeface="Times New Roman" panose="02020603050405020304" pitchFamily="18" charset="0"/>
                <a:cs typeface="Times New Roman" panose="02020603050405020304" pitchFamily="18" charset="0"/>
              </a:rPr>
              <a:t>     for note in denominations:   </a:t>
            </a:r>
          </a:p>
          <a:p>
            <a:pPr marL="0" indent="0">
              <a:buNone/>
            </a:pPr>
            <a:r>
              <a:rPr lang="en-US" dirty="0">
                <a:latin typeface="Times New Roman" panose="02020603050405020304" pitchFamily="18" charset="0"/>
                <a:cs typeface="Times New Roman" panose="02020603050405020304" pitchFamily="18" charset="0"/>
              </a:rPr>
              <a:t>           count = amount // note  </a:t>
            </a:r>
          </a:p>
          <a:p>
            <a:pPr marL="0" indent="0">
              <a:buNone/>
            </a:pPr>
            <a:r>
              <a:rPr lang="en-US" dirty="0">
                <a:latin typeface="Times New Roman" panose="02020603050405020304" pitchFamily="18" charset="0"/>
                <a:cs typeface="Times New Roman" panose="02020603050405020304" pitchFamily="18" charset="0"/>
              </a:rPr>
              <a:t>           if count:        </a:t>
            </a:r>
          </a:p>
          <a:p>
            <a:pPr marL="0" indent="0">
              <a:buNone/>
            </a:pPr>
            <a:r>
              <a:rPr lang="en-US" dirty="0">
                <a:latin typeface="Times New Roman" panose="02020603050405020304" pitchFamily="18" charset="0"/>
                <a:cs typeface="Times New Roman" panose="02020603050405020304" pitchFamily="18" charset="0"/>
              </a:rPr>
              <a:t>               yield f"{count} x ₹{note}"      </a:t>
            </a:r>
          </a:p>
          <a:p>
            <a:pPr marL="0" indent="0">
              <a:buNone/>
            </a:pPr>
            <a:r>
              <a:rPr lang="en-US" dirty="0">
                <a:latin typeface="Times New Roman" panose="02020603050405020304" pitchFamily="18" charset="0"/>
                <a:cs typeface="Times New Roman" panose="02020603050405020304" pitchFamily="18" charset="0"/>
              </a:rPr>
              <a:t>           amount %= note</a:t>
            </a:r>
          </a:p>
          <a:p>
            <a:pPr marL="0" indent="0">
              <a:buNone/>
            </a:pPr>
            <a:r>
              <a:rPr lang="en-US" dirty="0">
                <a:latin typeface="Times New Roman" panose="02020603050405020304" pitchFamily="18" charset="0"/>
                <a:cs typeface="Times New Roman" panose="02020603050405020304" pitchFamily="18" charset="0"/>
              </a:rPr>
              <a:t>    if amount &gt; 0:    </a:t>
            </a:r>
          </a:p>
          <a:p>
            <a:pPr marL="0" indent="0">
              <a:buNone/>
            </a:pPr>
            <a:r>
              <a:rPr lang="en-US" dirty="0">
                <a:latin typeface="Times New Roman" panose="02020603050405020304" pitchFamily="18" charset="0"/>
                <a:cs typeface="Times New Roman" panose="02020603050405020304" pitchFamily="18" charset="0"/>
              </a:rPr>
              <a:t>        yield "Remaining amount cannot be dispensed.“</a:t>
            </a:r>
          </a:p>
          <a:p>
            <a:pPr marL="0" indent="0">
              <a:buNone/>
            </a:pPr>
            <a:r>
              <a:rPr lang="en-US" dirty="0" err="1">
                <a:latin typeface="Times New Roman" panose="02020603050405020304" pitchFamily="18" charset="0"/>
                <a:cs typeface="Times New Roman" panose="02020603050405020304" pitchFamily="18" charset="0"/>
              </a:rPr>
              <a:t>withdrawal_amount</a:t>
            </a:r>
            <a:r>
              <a:rPr lang="en-US" dirty="0">
                <a:latin typeface="Times New Roman" panose="02020603050405020304" pitchFamily="18" charset="0"/>
                <a:cs typeface="Times New Roman" panose="02020603050405020304" pitchFamily="18" charset="0"/>
              </a:rPr>
              <a:t> = int(input("Enter amount to withdraw: "))  </a:t>
            </a:r>
          </a:p>
          <a:p>
            <a:pPr marL="0" indent="0">
              <a:buNone/>
            </a:pPr>
            <a:r>
              <a:rPr lang="en-US" dirty="0">
                <a:latin typeface="Times New Roman" panose="02020603050405020304" pitchFamily="18" charset="0"/>
                <a:cs typeface="Times New Roman" panose="02020603050405020304" pitchFamily="18" charset="0"/>
              </a:rPr>
              <a:t>print("Cash </a:t>
            </a:r>
            <a:r>
              <a:rPr lang="en-US" dirty="0" err="1">
                <a:latin typeface="Times New Roman" panose="02020603050405020304" pitchFamily="18" charset="0"/>
                <a:cs typeface="Times New Roman" panose="02020603050405020304" pitchFamily="18" charset="0"/>
              </a:rPr>
              <a:t>Dispensal</a:t>
            </a:r>
            <a:r>
              <a:rPr lang="en-US"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for cash in </a:t>
            </a:r>
            <a:r>
              <a:rPr lang="en-US" dirty="0" err="1">
                <a:latin typeface="Times New Roman" panose="02020603050405020304" pitchFamily="18" charset="0"/>
                <a:cs typeface="Times New Roman" panose="02020603050405020304" pitchFamily="18" charset="0"/>
              </a:rPr>
              <a:t>atm_cash_dispenser</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withdrawal_amount</a:t>
            </a:r>
            <a:r>
              <a:rPr lang="en-US" dirty="0">
                <a:latin typeface="Times New Roman" panose="02020603050405020304" pitchFamily="18" charset="0"/>
                <a:cs typeface="Times New Roman" panose="02020603050405020304" pitchFamily="18" charset="0"/>
              </a:rPr>
              <a:t>):  </a:t>
            </a:r>
          </a:p>
          <a:p>
            <a:pPr marL="0" indent="0">
              <a:buNone/>
            </a:pPr>
            <a:r>
              <a:rPr lang="en-US" dirty="0">
                <a:latin typeface="Times New Roman" panose="02020603050405020304" pitchFamily="18" charset="0"/>
                <a:cs typeface="Times New Roman" panose="02020603050405020304" pitchFamily="18" charset="0"/>
              </a:rPr>
              <a:t>      print(cash)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87652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ED9DE4-F75F-EEF0-E9D2-8AD1A2DCBB70}"/>
              </a:ext>
            </a:extLst>
          </p:cNvPr>
          <p:cNvSpPr>
            <a:spLocks noGrp="1"/>
          </p:cNvSpPr>
          <p:nvPr>
            <p:ph idx="1"/>
          </p:nvPr>
        </p:nvSpPr>
        <p:spPr>
          <a:xfrm>
            <a:off x="838200" y="1253331"/>
            <a:ext cx="10515600" cy="4351338"/>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Testcase1:</a:t>
            </a:r>
          </a:p>
          <a:p>
            <a:pPr marL="0" indent="0">
              <a:buNone/>
            </a:pPr>
            <a:r>
              <a:rPr lang="en-US"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Output:</a:t>
            </a:r>
          </a:p>
          <a:p>
            <a:pPr marL="0" indent="0">
              <a:buNone/>
            </a:pPr>
            <a:endParaRPr lang="en-IN" dirty="0"/>
          </a:p>
        </p:txBody>
      </p:sp>
      <p:pic>
        <p:nvPicPr>
          <p:cNvPr id="5" name="Picture 4">
            <a:extLst>
              <a:ext uri="{FF2B5EF4-FFF2-40B4-BE49-F238E27FC236}">
                <a16:creationId xmlns:a16="http://schemas.microsoft.com/office/drawing/2014/main" id="{44BCBE42-8D93-8F73-764A-1A1D8B2C485A}"/>
              </a:ext>
            </a:extLst>
          </p:cNvPr>
          <p:cNvPicPr>
            <a:picLocks noChangeAspect="1"/>
          </p:cNvPicPr>
          <p:nvPr/>
        </p:nvPicPr>
        <p:blipFill>
          <a:blip r:embed="rId2"/>
          <a:stretch>
            <a:fillRect/>
          </a:stretch>
        </p:blipFill>
        <p:spPr>
          <a:xfrm>
            <a:off x="1059009" y="2419861"/>
            <a:ext cx="5468113" cy="257211"/>
          </a:xfrm>
          <a:prstGeom prst="rect">
            <a:avLst/>
          </a:prstGeom>
        </p:spPr>
      </p:pic>
      <p:pic>
        <p:nvPicPr>
          <p:cNvPr id="7" name="Picture 6">
            <a:extLst>
              <a:ext uri="{FF2B5EF4-FFF2-40B4-BE49-F238E27FC236}">
                <a16:creationId xmlns:a16="http://schemas.microsoft.com/office/drawing/2014/main" id="{17D17D7B-1002-BC32-268C-EC5E35D39D61}"/>
              </a:ext>
            </a:extLst>
          </p:cNvPr>
          <p:cNvPicPr>
            <a:picLocks noChangeAspect="1"/>
          </p:cNvPicPr>
          <p:nvPr/>
        </p:nvPicPr>
        <p:blipFill>
          <a:blip r:embed="rId3"/>
          <a:stretch>
            <a:fillRect/>
          </a:stretch>
        </p:blipFill>
        <p:spPr>
          <a:xfrm>
            <a:off x="1059009" y="3318933"/>
            <a:ext cx="1819529" cy="971686"/>
          </a:xfrm>
          <a:prstGeom prst="rect">
            <a:avLst/>
          </a:prstGeom>
        </p:spPr>
      </p:pic>
    </p:spTree>
    <p:extLst>
      <p:ext uri="{BB962C8B-B14F-4D97-AF65-F5344CB8AC3E}">
        <p14:creationId xmlns:p14="http://schemas.microsoft.com/office/powerpoint/2010/main" val="28912347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2415C7-55B6-18FB-4B96-4C905B9A3847}"/>
              </a:ext>
            </a:extLst>
          </p:cNvPr>
          <p:cNvSpPr>
            <a:spLocks noGrp="1"/>
          </p:cNvSpPr>
          <p:nvPr>
            <p:ph idx="1"/>
          </p:nvPr>
        </p:nvSpPr>
        <p:spPr>
          <a:xfrm>
            <a:off x="772886" y="1172482"/>
            <a:ext cx="10515600" cy="4351338"/>
          </a:xfrm>
        </p:spPr>
        <p:txBody>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Testcase2:</a:t>
            </a:r>
          </a:p>
          <a:p>
            <a:pPr marL="0" indent="0">
              <a:buNone/>
            </a:pPr>
            <a:r>
              <a:rPr lang="en-US" b="1" dirty="0">
                <a:solidFill>
                  <a:srgbClr val="FF0000"/>
                </a:solidFill>
                <a:latin typeface="Times New Roman" panose="02020603050405020304" pitchFamily="18" charset="0"/>
                <a:cs typeface="Times New Roman" panose="02020603050405020304" pitchFamily="18" charset="0"/>
              </a:rPr>
              <a:t>Input:</a:t>
            </a:r>
          </a:p>
          <a:p>
            <a:pPr marL="0" indent="0">
              <a:buNone/>
            </a:pPr>
            <a:endParaRPr lang="en-US" b="1" dirty="0">
              <a:solidFill>
                <a:srgbClr val="FF0000"/>
              </a:solidFill>
              <a:latin typeface="Times New Roman" panose="02020603050405020304" pitchFamily="18" charset="0"/>
              <a:cs typeface="Times New Roman" panose="02020603050405020304" pitchFamily="18" charset="0"/>
            </a:endParaRPr>
          </a:p>
          <a:p>
            <a:pPr marL="0" indent="0">
              <a:buNone/>
            </a:pPr>
            <a:r>
              <a:rPr lang="en-US" b="1" dirty="0">
                <a:solidFill>
                  <a:srgbClr val="FF0000"/>
                </a:solidFill>
                <a:latin typeface="Times New Roman" panose="02020603050405020304" pitchFamily="18" charset="0"/>
                <a:cs typeface="Times New Roman" panose="02020603050405020304" pitchFamily="18" charset="0"/>
              </a:rPr>
              <a:t>Output:</a:t>
            </a:r>
          </a:p>
          <a:p>
            <a:pPr marL="0" indent="0">
              <a:buNone/>
            </a:pPr>
            <a:endParaRPr lang="en-IN" dirty="0"/>
          </a:p>
        </p:txBody>
      </p:sp>
      <p:pic>
        <p:nvPicPr>
          <p:cNvPr id="5" name="Picture 4">
            <a:extLst>
              <a:ext uri="{FF2B5EF4-FFF2-40B4-BE49-F238E27FC236}">
                <a16:creationId xmlns:a16="http://schemas.microsoft.com/office/drawing/2014/main" id="{CD7714D9-B0FC-5244-CC61-A083C824C27B}"/>
              </a:ext>
            </a:extLst>
          </p:cNvPr>
          <p:cNvPicPr>
            <a:picLocks noChangeAspect="1"/>
          </p:cNvPicPr>
          <p:nvPr/>
        </p:nvPicPr>
        <p:blipFill>
          <a:blip r:embed="rId2"/>
          <a:stretch>
            <a:fillRect/>
          </a:stretch>
        </p:blipFill>
        <p:spPr>
          <a:xfrm>
            <a:off x="772886" y="2277616"/>
            <a:ext cx="5515745" cy="362001"/>
          </a:xfrm>
          <a:prstGeom prst="rect">
            <a:avLst/>
          </a:prstGeom>
        </p:spPr>
      </p:pic>
      <p:pic>
        <p:nvPicPr>
          <p:cNvPr id="7" name="Picture 6">
            <a:extLst>
              <a:ext uri="{FF2B5EF4-FFF2-40B4-BE49-F238E27FC236}">
                <a16:creationId xmlns:a16="http://schemas.microsoft.com/office/drawing/2014/main" id="{24690B96-FBD7-ABCE-F4E2-0C9C4D252916}"/>
              </a:ext>
            </a:extLst>
          </p:cNvPr>
          <p:cNvPicPr>
            <a:picLocks noChangeAspect="1"/>
          </p:cNvPicPr>
          <p:nvPr/>
        </p:nvPicPr>
        <p:blipFill>
          <a:blip r:embed="rId3"/>
          <a:stretch>
            <a:fillRect/>
          </a:stretch>
        </p:blipFill>
        <p:spPr>
          <a:xfrm>
            <a:off x="903514" y="3272368"/>
            <a:ext cx="3296110" cy="1009791"/>
          </a:xfrm>
          <a:prstGeom prst="rect">
            <a:avLst/>
          </a:prstGeom>
        </p:spPr>
      </p:pic>
    </p:spTree>
    <p:extLst>
      <p:ext uri="{BB962C8B-B14F-4D97-AF65-F5344CB8AC3E}">
        <p14:creationId xmlns:p14="http://schemas.microsoft.com/office/powerpoint/2010/main" val="35191851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46D8E-09B2-7EA0-3A12-E49C79F94255}"/>
              </a:ext>
            </a:extLst>
          </p:cNvPr>
          <p:cNvSpPr>
            <a:spLocks noGrp="1"/>
          </p:cNvSpPr>
          <p:nvPr>
            <p:ph type="title"/>
          </p:nvPr>
        </p:nvSpPr>
        <p:spPr/>
        <p:txBody>
          <a:bodyPr>
            <a:normAutofit/>
          </a:bodyPr>
          <a:lstStyle/>
          <a:p>
            <a:r>
              <a:rPr lang="en-US" sz="3600" b="1" dirty="0">
                <a:latin typeface="Times New Roman" panose="02020603050405020304" pitchFamily="18" charset="0"/>
                <a:cs typeface="Times New Roman" panose="02020603050405020304" pitchFamily="18" charset="0"/>
              </a:rPr>
              <a:t>Summary about Generators</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ED08A8-A1F6-4774-0ED3-E65429F98C39}"/>
              </a:ext>
            </a:extLst>
          </p:cNvPr>
          <p:cNvSpPr>
            <a:spLocks noGrp="1"/>
          </p:cNvSpPr>
          <p:nvPr>
            <p:ph idx="1"/>
          </p:nvPr>
        </p:nvSpPr>
        <p:spPr>
          <a:xfrm>
            <a:off x="838200" y="1825625"/>
            <a:ext cx="10199914" cy="4351338"/>
          </a:xfrm>
        </p:spPr>
        <p:txBody>
          <a:bodyPr>
            <a:normAutofit/>
          </a:bodyPr>
          <a:lstStyle/>
          <a:p>
            <a:r>
              <a:rPr lang="en-US" sz="2400" dirty="0">
                <a:latin typeface="Times New Roman" panose="02020603050405020304" pitchFamily="18" charset="0"/>
                <a:cs typeface="Times New Roman" panose="02020603050405020304" pitchFamily="18" charset="0"/>
              </a:rPr>
              <a:t>Generators are a great way to handle large datasets efficiently and improve performance in python.</a:t>
            </a:r>
          </a:p>
          <a:p>
            <a:r>
              <a:rPr lang="en-US" sz="2400" dirty="0">
                <a:latin typeface="Times New Roman" panose="02020603050405020304" pitchFamily="18" charset="0"/>
                <a:cs typeface="Times New Roman" panose="02020603050405020304" pitchFamily="18" charset="0"/>
              </a:rPr>
              <a:t>Key Takeaways: They are memory-efficient, created with yield, and support lazy evaluation.</a:t>
            </a:r>
          </a:p>
          <a:p>
            <a:r>
              <a:rPr lang="en-US" sz="2400" dirty="0">
                <a:latin typeface="Times New Roman" panose="02020603050405020304" pitchFamily="18" charset="0"/>
                <a:cs typeface="Times New Roman" panose="02020603050405020304" pitchFamily="18" charset="0"/>
              </a:rPr>
              <a:t>Use Cases: Reading large files, processing data streams, and infinite sequences.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6506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4364</TotalTime>
  <Words>2755</Words>
  <Application>Microsoft Office PowerPoint</Application>
  <PresentationFormat>Widescreen</PresentationFormat>
  <Paragraphs>357</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Times New Roman</vt:lpstr>
      <vt:lpstr>Office Theme</vt:lpstr>
      <vt:lpstr>DECORATORS AND GENERATORS IN PYTHON</vt:lpstr>
      <vt:lpstr>DECORATORS</vt:lpstr>
      <vt:lpstr>What is a Decorators?</vt:lpstr>
      <vt:lpstr>Example of a Simple Decorator</vt:lpstr>
      <vt:lpstr>Example</vt:lpstr>
      <vt:lpstr>Why Use Decorators?</vt:lpstr>
      <vt:lpstr>How Do Decorators Work? </vt:lpstr>
      <vt:lpstr>PowerPoint Presentation</vt:lpstr>
      <vt:lpstr>Types of Decorators</vt:lpstr>
      <vt:lpstr>Built-In Python Decorators</vt:lpstr>
      <vt:lpstr>Function Wrapping and functools.wraps</vt:lpstr>
      <vt:lpstr>Daily Activities &amp; Their Decorators </vt:lpstr>
      <vt:lpstr>How each Decorator works</vt:lpstr>
      <vt:lpstr>1. Wake Up Reminder Decorator</vt:lpstr>
      <vt:lpstr>PowerPoint Presentation</vt:lpstr>
      <vt:lpstr>2.Water Drinking Remainder Decorator</vt:lpstr>
      <vt:lpstr>PowerPoint Presentation</vt:lpstr>
      <vt:lpstr>3.Work Out Timer Decorator </vt:lpstr>
      <vt:lpstr>PowerPoint Presentation</vt:lpstr>
      <vt:lpstr>4.Cooking Timer Decorator</vt:lpstr>
      <vt:lpstr>PowerPoint Presentation</vt:lpstr>
      <vt:lpstr>5.Groceries reminder Decorator</vt:lpstr>
      <vt:lpstr>PowerPoint Presentation</vt:lpstr>
      <vt:lpstr>6.Sleep Tracker Decorator</vt:lpstr>
      <vt:lpstr>PowerPoint Presentation</vt:lpstr>
      <vt:lpstr>Summary about Decorators</vt:lpstr>
      <vt:lpstr>Summary of Benefits</vt:lpstr>
      <vt:lpstr>GENERATORS</vt:lpstr>
      <vt:lpstr>What is a Generator?</vt:lpstr>
      <vt:lpstr>Why Use Generators?</vt:lpstr>
      <vt:lpstr>Creating a Generator</vt:lpstr>
      <vt:lpstr>Using a Generator</vt:lpstr>
      <vt:lpstr>Generators vs Iterators</vt:lpstr>
      <vt:lpstr>Cont..</vt:lpstr>
      <vt:lpstr>Benefits:</vt:lpstr>
      <vt:lpstr>Magical yield Keyword</vt:lpstr>
      <vt:lpstr>Initalizing a generator</vt:lpstr>
      <vt:lpstr>Example of send() method</vt:lpstr>
      <vt:lpstr>Facts about Generators</vt:lpstr>
      <vt:lpstr>StopIteration Example</vt:lpstr>
      <vt:lpstr>Real Time Activities &amp; their Generators</vt:lpstr>
      <vt:lpstr>1.Generating Fibonacci Series.</vt:lpstr>
      <vt:lpstr>PowerPoint Presentation</vt:lpstr>
      <vt:lpstr>2.Movie Ticket Booking</vt:lpstr>
      <vt:lpstr>PowerPoint Presentation</vt:lpstr>
      <vt:lpstr>3.Traffic Light System</vt:lpstr>
      <vt:lpstr>4.ATM Cash Dispenses</vt:lpstr>
      <vt:lpstr>PowerPoint Presentation</vt:lpstr>
      <vt:lpstr>PowerPoint Presentation</vt:lpstr>
      <vt:lpstr>Summary about Generators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KARUNA BANDARI</dc:creator>
  <cp:lastModifiedBy>KARUNA BANDARI</cp:lastModifiedBy>
  <cp:revision>28</cp:revision>
  <dcterms:created xsi:type="dcterms:W3CDTF">2025-02-06T09:54:11Z</dcterms:created>
  <dcterms:modified xsi:type="dcterms:W3CDTF">2025-03-14T10:42:10Z</dcterms:modified>
</cp:coreProperties>
</file>